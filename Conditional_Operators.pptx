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21"/>
  </p:notesMasterIdLst>
  <p:handoutMasterIdLst>
    <p:handoutMasterId r:id="rId22"/>
  </p:handoutMasterIdLst>
  <p:sldIdLst>
    <p:sldId id="257" r:id="rId4"/>
    <p:sldId id="260" r:id="rId5"/>
    <p:sldId id="265" r:id="rId6"/>
    <p:sldId id="258" r:id="rId7"/>
    <p:sldId id="259" r:id="rId8"/>
    <p:sldId id="264" r:id="rId9"/>
    <p:sldId id="262" r:id="rId10"/>
    <p:sldId id="263" r:id="rId11"/>
    <p:sldId id="273" r:id="rId12"/>
    <p:sldId id="275" r:id="rId13"/>
    <p:sldId id="272" r:id="rId14"/>
    <p:sldId id="266" r:id="rId15"/>
    <p:sldId id="267" r:id="rId16"/>
    <p:sldId id="269" r:id="rId17"/>
    <p:sldId id="268" r:id="rId18"/>
    <p:sldId id="270" r:id="rId19"/>
    <p:sldId id="271" r:id="rId20"/>
  </p:sldIdLst>
  <p:sldSz cx="9144000" cy="5143500" type="screen16x9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orient="horz" pos="612" userDrawn="1">
          <p15:clr>
            <a:srgbClr val="A4A3A4"/>
          </p15:clr>
        </p15:guide>
        <p15:guide id="3" orient="horz" pos="1854" userDrawn="1">
          <p15:clr>
            <a:srgbClr val="A4A3A4"/>
          </p15:clr>
        </p15:guide>
        <p15:guide id="4" orient="horz" pos="2994" userDrawn="1">
          <p15:clr>
            <a:srgbClr val="A4A3A4"/>
          </p15:clr>
        </p15:guide>
        <p15:guide id="5" pos="2934" userDrawn="1">
          <p15:clr>
            <a:srgbClr val="A4A3A4"/>
          </p15:clr>
        </p15:guide>
        <p15:guide id="6" pos="2826" userDrawn="1">
          <p15:clr>
            <a:srgbClr val="A4A3A4"/>
          </p15:clr>
        </p15:guide>
        <p15:guide id="7" pos="5538" userDrawn="1">
          <p15:clr>
            <a:srgbClr val="A4A3A4"/>
          </p15:clr>
        </p15:guide>
        <p15:guide id="8" pos="22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635"/>
    <a:srgbClr val="00ABE7"/>
    <a:srgbClr val="2EBEEF"/>
    <a:srgbClr val="93D5F6"/>
    <a:srgbClr val="CEEBFC"/>
    <a:srgbClr val="0057B7"/>
    <a:srgbClr val="000828"/>
    <a:srgbClr val="475968"/>
    <a:srgbClr val="E523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04" autoAdjust="0"/>
  </p:normalViewPr>
  <p:slideViewPr>
    <p:cSldViewPr snapToGrid="0" snapToObjects="1">
      <p:cViewPr varScale="1">
        <p:scale>
          <a:sx n="138" d="100"/>
          <a:sy n="138" d="100"/>
        </p:scale>
        <p:origin x="228" y="84"/>
      </p:cViewPr>
      <p:guideLst>
        <p:guide orient="horz" pos="1752"/>
        <p:guide orient="horz" pos="612"/>
        <p:guide orient="horz" pos="1854"/>
        <p:guide orient="horz" pos="2994"/>
        <p:guide pos="2934"/>
        <p:guide pos="2826"/>
        <p:guide pos="5538"/>
        <p:guide pos="2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-383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DE" sz="11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7581487-DED7-4908-9A01-0A45EDCB1D6C}" type="datetimeFigureOut">
              <a:rPr lang="de-DE" sz="1100"/>
              <a:t>30.09.2026</a:t>
            </a:fld>
            <a:endParaRPr lang="de-DE" sz="110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DE" sz="11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3F42A22D-1E89-46D3-A8B1-76349A9A3E3A}" type="slidenum">
              <a:rPr lang="de-DE" sz="1100"/>
              <a:t>‹#›</a:t>
            </a:fld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527662289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5888" y="403225"/>
            <a:ext cx="6850062" cy="38544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lIns="99048" tIns="49524" rIns="99048" bIns="49524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72667" y="4432312"/>
            <a:ext cx="6335333" cy="543965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4" y="9947545"/>
            <a:ext cx="3076363" cy="282056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100"/>
            </a:lvl1pPr>
          </a:lstStyle>
          <a:p>
            <a:fld id="{D61B4C21-2AF8-4513-9A88-12DEBB551087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262257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16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432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648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64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/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651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4E471-BB94-A6DD-857A-55290159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>
            <a:extLst>
              <a:ext uri="{FF2B5EF4-FFF2-40B4-BE49-F238E27FC236}">
                <a16:creationId xmlns:a16="http://schemas.microsoft.com/office/drawing/2014/main" id="{A6312FA6-D491-A5CC-5786-2ADC87852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B853C5AE-E774-1CED-47AF-F1A48EC6C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1916D66-5143-602D-3E67-55F7B3F56B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27034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5D835-4902-3C67-A9EB-40B25BEF2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>
            <a:extLst>
              <a:ext uri="{FF2B5EF4-FFF2-40B4-BE49-F238E27FC236}">
                <a16:creationId xmlns:a16="http://schemas.microsoft.com/office/drawing/2014/main" id="{D9596574-4071-DE0F-E6BB-56C0FA039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73FD4B56-0FD9-DDCB-80AE-609DAFA4F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0ECF50C-52A4-669A-938B-F49BAF8DAA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70287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D4E26-4756-E19D-44E0-37A80375C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>
            <a:extLst>
              <a:ext uri="{FF2B5EF4-FFF2-40B4-BE49-F238E27FC236}">
                <a16:creationId xmlns:a16="http://schemas.microsoft.com/office/drawing/2014/main" id="{B5456785-1360-E0B6-2EB5-25D45A1A0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D37AE4C3-12BB-414A-71F4-1E5D30710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6742B2A-A9ED-BB15-8027-49B3591CA4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2079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9194B-D585-5C32-17C5-79C80117C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>
            <a:extLst>
              <a:ext uri="{FF2B5EF4-FFF2-40B4-BE49-F238E27FC236}">
                <a16:creationId xmlns:a16="http://schemas.microsoft.com/office/drawing/2014/main" id="{BF336A4B-DDC3-FF6C-7E82-E74B78D31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0EAB0DB9-882E-96F5-7DC8-C06CA9A3A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B8465D9-3E1A-7E40-47B9-CDBE2D41D0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3779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29275-2563-A3BD-C062-A39294F4E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>
            <a:extLst>
              <a:ext uri="{FF2B5EF4-FFF2-40B4-BE49-F238E27FC236}">
                <a16:creationId xmlns:a16="http://schemas.microsoft.com/office/drawing/2014/main" id="{82AEFDB0-3CC5-6C42-5C68-B554F13D5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7A0966C5-60CA-2838-0479-C3715EBEB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0DB8E3C-6BD2-8D84-002D-1F52208DD3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4149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1C751-02A7-9F3F-2DF8-23BC196C8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>
            <a:extLst>
              <a:ext uri="{FF2B5EF4-FFF2-40B4-BE49-F238E27FC236}">
                <a16:creationId xmlns:a16="http://schemas.microsoft.com/office/drawing/2014/main" id="{65ACD1F4-CB1D-3ADD-5FFC-B01D598B4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1DD52558-717B-BD25-D7CF-8E58BFA51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29F3655-A268-3691-DD07-83F9F64842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07085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99909-B1DF-6D6B-FB98-0A30582E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>
            <a:extLst>
              <a:ext uri="{FF2B5EF4-FFF2-40B4-BE49-F238E27FC236}">
                <a16:creationId xmlns:a16="http://schemas.microsoft.com/office/drawing/2014/main" id="{54E5E66E-A786-4574-EEEC-0AE356FBE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2E8704CF-34F8-77CD-6C42-57DD2FEB3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D0E230B-E27D-B7A3-979A-E8A0C9FB5D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3272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2303C-5113-3303-AB92-96796D411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>
            <a:extLst>
              <a:ext uri="{FF2B5EF4-FFF2-40B4-BE49-F238E27FC236}">
                <a16:creationId xmlns:a16="http://schemas.microsoft.com/office/drawing/2014/main" id="{6A98A639-325C-8F26-3E0C-E627A9985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3524F22E-6B34-EC4F-FF7E-4FD31C1B7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1704F2E-EB76-5A6C-FAFA-470E535F3C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4523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4AD36-2E66-F83E-4805-EAEF01E9F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>
            <a:extLst>
              <a:ext uri="{FF2B5EF4-FFF2-40B4-BE49-F238E27FC236}">
                <a16:creationId xmlns:a16="http://schemas.microsoft.com/office/drawing/2014/main" id="{64EF5BA2-C726-CE94-6F00-EEAD8C52E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F8EA47CF-B83C-F00F-817C-7B6AAA4A0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3DC091E-E92E-25FA-0296-904A071B1D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0230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1B702-0B9B-CC0F-AD36-BF247D778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>
            <a:extLst>
              <a:ext uri="{FF2B5EF4-FFF2-40B4-BE49-F238E27FC236}">
                <a16:creationId xmlns:a16="http://schemas.microsoft.com/office/drawing/2014/main" id="{314E22DE-5C97-4F8A-3F3B-6C118A490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F2EEF093-A7F4-0E68-ABBE-65E6A4869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8F36A13-1E20-42E7-D401-D98973C0F2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4883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0BA52-9FB3-23A7-3986-6F5A38AB6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>
            <a:extLst>
              <a:ext uri="{FF2B5EF4-FFF2-40B4-BE49-F238E27FC236}">
                <a16:creationId xmlns:a16="http://schemas.microsoft.com/office/drawing/2014/main" id="{48DF52AE-AE00-A6A9-6DA4-BF2D20D5C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21CB5D26-E078-5179-1FCC-3AC185F29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DCFF316-E4FC-2744-1567-7C993116DA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4909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FCB73-F209-065C-F31F-00F18CA9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>
            <a:extLst>
              <a:ext uri="{FF2B5EF4-FFF2-40B4-BE49-F238E27FC236}">
                <a16:creationId xmlns:a16="http://schemas.microsoft.com/office/drawing/2014/main" id="{B8912E0F-949F-6577-59E8-832B844E9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55EDEA0E-0EB7-71CE-7CA1-4017FBBE0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FDAEAFC-B680-5EC1-F7DD-45BCD5465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58758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EC028-59BB-C3EE-BF06-DFE6D0506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>
            <a:extLst>
              <a:ext uri="{FF2B5EF4-FFF2-40B4-BE49-F238E27FC236}">
                <a16:creationId xmlns:a16="http://schemas.microsoft.com/office/drawing/2014/main" id="{5DF87B63-E6E8-09F2-D436-804A5D315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7717DE0A-C774-3C51-BF43-12DE88D32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4BC1C8C-949D-6DB6-A79F-CB73E8A575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2596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C4334-49D0-4BC6-6E1E-F353880B0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>
            <a:extLst>
              <a:ext uri="{FF2B5EF4-FFF2-40B4-BE49-F238E27FC236}">
                <a16:creationId xmlns:a16="http://schemas.microsoft.com/office/drawing/2014/main" id="{8718DF9D-3EFF-C929-CAFF-03D8DE9F7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E27A622E-6D50-C63F-52C0-BD222063A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CD93655-EA7A-C540-960D-CA2C0C8E5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61787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D6568-A864-1326-01F7-224FF2BA9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>
            <a:extLst>
              <a:ext uri="{FF2B5EF4-FFF2-40B4-BE49-F238E27FC236}">
                <a16:creationId xmlns:a16="http://schemas.microsoft.com/office/drawing/2014/main" id="{ECB3813D-7DB7-5BB4-E913-5E89E3652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07E4CC1F-93FC-8808-AC99-4B01A8233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CF6B3B5-8EBA-EB70-52B6-1FCA3194D4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52232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ACAE4-673D-53C9-CCDF-D322066C5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>
            <a:extLst>
              <a:ext uri="{FF2B5EF4-FFF2-40B4-BE49-F238E27FC236}">
                <a16:creationId xmlns:a16="http://schemas.microsoft.com/office/drawing/2014/main" id="{0AB426C0-A078-38E6-8F6A-08881E191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39AD935D-7C5F-B4A6-2AE9-4DE5D7EB0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4683939-AFDA-8B38-C455-F41EECA16E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7815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0B27B7-17E5-4A05-7F83-00E7B178F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999" y="908416"/>
            <a:ext cx="8424000" cy="1057982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B27D11-1CD9-19FD-3A35-75868FE6D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998" y="2190181"/>
            <a:ext cx="8424000" cy="66378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400" b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</a:pPr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3713CE-4716-A550-4F54-7739A55A3D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326E1C-6104-4B1D-A0DF-E3388A3C354E}" type="datetimeFigureOut">
              <a:rPr lang="de-DE" smtClean="0"/>
              <a:pPr/>
              <a:t>30.09.2026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B38394-6756-0F9B-4B68-F8E62E08EB3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4395" t="24411" r="24395" b="24411"/>
          <a:stretch/>
        </p:blipFill>
        <p:spPr>
          <a:xfrm>
            <a:off x="7828763" y="3828585"/>
            <a:ext cx="864000" cy="86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52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for dark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2">
            <a:extLst>
              <a:ext uri="{FF2B5EF4-FFF2-40B4-BE49-F238E27FC236}">
                <a16:creationId xmlns:a16="http://schemas.microsoft.com/office/drawing/2014/main" id="{22FDBB0D-9A76-097F-5478-D8AB332453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3"/>
            <a:ext cx="9144000" cy="5144541"/>
          </a:xfr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109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9999" y="908416"/>
            <a:ext cx="8424000" cy="1057982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59997" y="2190180"/>
            <a:ext cx="8424001" cy="66378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400" b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</a:pPr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473F4857-E0CA-3F2B-147D-10B520AAFE8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8762" y="3828584"/>
            <a:ext cx="864000" cy="864267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8086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for b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2">
            <a:extLst>
              <a:ext uri="{FF2B5EF4-FFF2-40B4-BE49-F238E27FC236}">
                <a16:creationId xmlns:a16="http://schemas.microsoft.com/office/drawing/2014/main" id="{22FDBB0D-9A76-097F-5478-D8AB332453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3"/>
            <a:ext cx="9144000" cy="5144541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9999" y="908416"/>
            <a:ext cx="8424000" cy="1057982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z="3600" dirty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59997" y="2190180"/>
            <a:ext cx="8424001" cy="66378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400" b="0" dirty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</a:pPr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6CF8F7F5-1D26-B002-9948-6C3932287B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8762" y="3828584"/>
            <a:ext cx="864000" cy="86426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921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(blue)">
    <p:bg>
      <p:bgPr>
        <a:solidFill>
          <a:srgbClr val="002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8424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C46C04E-B4AE-3757-B779-346B521441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" b="33"/>
          <a:stretch/>
        </p:blipFill>
        <p:spPr>
          <a:xfrm>
            <a:off x="360002" y="4796188"/>
            <a:ext cx="209204" cy="209068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39BA41-B913-0437-A25B-775D9A03C5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04001" y="4890653"/>
            <a:ext cx="18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88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with Picture (blue)">
    <p:bg>
      <p:bgPr>
        <a:solidFill>
          <a:srgbClr val="002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4122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4AF9126-6937-A989-7F32-992CCFD90D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1096" y="0"/>
            <a:ext cx="4482904" cy="5143500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39BA41-B913-0437-A25B-775D9A03C5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04001" y="4890653"/>
            <a:ext cx="18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7C70C-6D75-BA5B-7801-55484AF841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" b="33"/>
          <a:stretch/>
        </p:blipFill>
        <p:spPr>
          <a:xfrm>
            <a:off x="360002" y="4796188"/>
            <a:ext cx="209204" cy="20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73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8424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D9263DE1-C037-39FE-DC94-7BCEAC44F8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04001" y="4871601"/>
            <a:ext cx="180000" cy="108000"/>
          </a:xfrm>
        </p:spPr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B7887E8-7A83-7E04-5B3E-859482CED4E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4395" t="24411" r="24395" b="24411"/>
          <a:stretch/>
        </p:blipFill>
        <p:spPr>
          <a:xfrm>
            <a:off x="360003" y="4796189"/>
            <a:ext cx="209204" cy="2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01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with Pictur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4122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043B0EE3-F67E-B2CB-E7F0-9B5841AFA6D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1096" y="0"/>
            <a:ext cx="4482904" cy="5143500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D9263DE1-C037-39FE-DC94-7BCEAC44F8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04001" y="4871601"/>
            <a:ext cx="180000" cy="108000"/>
          </a:xfrm>
        </p:spPr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3643AFB-05B7-7AEC-BD7F-D8F9A67AF97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4395" t="24411" r="24395" b="24411"/>
          <a:stretch/>
        </p:blipFill>
        <p:spPr>
          <a:xfrm>
            <a:off x="360003" y="4796189"/>
            <a:ext cx="209204" cy="2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823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FF4FF9-089E-B64F-31F5-B3291648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B1E25E-CC58-36FC-D066-614E813AA4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5" y="972000"/>
            <a:ext cx="4122737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189EB9-5D0A-643A-9E37-67B6A10F4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1F90B3-341F-6366-0B38-F7E0F7B8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326E1C-6104-4B1D-A0DF-E3388A3C354E}" type="datetimeFigureOut">
              <a:rPr lang="de-DE" smtClean="0"/>
              <a:pPr/>
              <a:t>30.09.2026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29ABA9-53BD-FEB3-7879-870B77FB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E99631-F2A8-59D7-D1F8-6147F1E0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B6847-08BA-46A7-9F57-5D815BE626A9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434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1" y="972000"/>
            <a:ext cx="270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3222002" y="972000"/>
            <a:ext cx="270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6084002" y="972000"/>
            <a:ext cx="2700000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962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4122737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4660362" y="972000"/>
            <a:ext cx="4122737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360003" y="2952000"/>
            <a:ext cx="4122737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Inhaltsplatzhalter 4"/>
          <p:cNvSpPr>
            <a:spLocks noGrp="1"/>
          </p:cNvSpPr>
          <p:nvPr>
            <p:ph sz="quarter" idx="15"/>
          </p:nvPr>
        </p:nvSpPr>
        <p:spPr>
          <a:xfrm>
            <a:off x="4660362" y="2952000"/>
            <a:ext cx="4122737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1755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1" y="972000"/>
            <a:ext cx="2700000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3222002" y="972000"/>
            <a:ext cx="2700000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6084002" y="972000"/>
            <a:ext cx="2700000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Inhaltsplatzhalter 4"/>
          <p:cNvSpPr>
            <a:spLocks noGrp="1"/>
          </p:cNvSpPr>
          <p:nvPr>
            <p:ph sz="quarter" idx="15"/>
          </p:nvPr>
        </p:nvSpPr>
        <p:spPr>
          <a:xfrm>
            <a:off x="360001" y="2951775"/>
            <a:ext cx="2700000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9" name="Inhaltsplatzhalter 5"/>
          <p:cNvSpPr>
            <a:spLocks noGrp="1"/>
          </p:cNvSpPr>
          <p:nvPr>
            <p:ph sz="quarter" idx="16"/>
          </p:nvPr>
        </p:nvSpPr>
        <p:spPr>
          <a:xfrm>
            <a:off x="3222002" y="2951775"/>
            <a:ext cx="2700000" cy="1800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Inhaltsplatzhalter 6"/>
          <p:cNvSpPr>
            <a:spLocks noGrp="1"/>
          </p:cNvSpPr>
          <p:nvPr>
            <p:ph sz="quarter" idx="17"/>
          </p:nvPr>
        </p:nvSpPr>
        <p:spPr>
          <a:xfrm>
            <a:off x="6084002" y="2951775"/>
            <a:ext cx="2700000" cy="1800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600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dirty="0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4122000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71601"/>
            <a:ext cx="3564000" cy="108000"/>
          </a:xfrm>
        </p:spPr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4122737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Bildplatzhalter 2"/>
          <p:cNvSpPr>
            <a:spLocks noGrp="1"/>
          </p:cNvSpPr>
          <p:nvPr>
            <p:ph type="pic" sz="quarter" idx="12"/>
          </p:nvPr>
        </p:nvSpPr>
        <p:spPr>
          <a:xfrm>
            <a:off x="4661096" y="0"/>
            <a:ext cx="4482904" cy="51435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862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dirty="0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4122000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71601"/>
            <a:ext cx="3563234" cy="108000"/>
          </a:xfrm>
        </p:spPr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4122737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Bildplatzhalter 1"/>
          <p:cNvSpPr>
            <a:spLocks noGrp="1"/>
          </p:cNvSpPr>
          <p:nvPr>
            <p:ph type="pic" sz="quarter" idx="12"/>
          </p:nvPr>
        </p:nvSpPr>
        <p:spPr>
          <a:xfrm>
            <a:off x="4661096" y="2"/>
            <a:ext cx="4482904" cy="2574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8" name="Bildplatzhalter 2"/>
          <p:cNvSpPr>
            <a:spLocks noGrp="1"/>
          </p:cNvSpPr>
          <p:nvPr>
            <p:ph type="pic" sz="quarter" idx="13"/>
          </p:nvPr>
        </p:nvSpPr>
        <p:spPr>
          <a:xfrm>
            <a:off x="4661096" y="2574002"/>
            <a:ext cx="4482904" cy="2574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303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platzhalter 1"/>
          <p:cNvSpPr>
            <a:spLocks noGrp="1"/>
          </p:cNvSpPr>
          <p:nvPr>
            <p:ph type="body" sz="quarter" idx="12"/>
          </p:nvPr>
        </p:nvSpPr>
        <p:spPr>
          <a:xfrm>
            <a:off x="360001" y="971999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3222002" y="971999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4"/>
          </p:nvPr>
        </p:nvSpPr>
        <p:spPr>
          <a:xfrm>
            <a:off x="6084002" y="971999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Bildplatzhalter 1"/>
          <p:cNvSpPr>
            <a:spLocks noGrp="1"/>
          </p:cNvSpPr>
          <p:nvPr>
            <p:ph type="pic" sz="quarter" idx="15"/>
          </p:nvPr>
        </p:nvSpPr>
        <p:spPr>
          <a:xfrm>
            <a:off x="360001" y="1511998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6"/>
          </p:nvPr>
        </p:nvSpPr>
        <p:spPr>
          <a:xfrm>
            <a:off x="3222002" y="1511998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084002" y="1511998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1" name="Inhaltsplatzhalter 1"/>
          <p:cNvSpPr>
            <a:spLocks noGrp="1"/>
          </p:cNvSpPr>
          <p:nvPr>
            <p:ph sz="quarter" idx="18"/>
          </p:nvPr>
        </p:nvSpPr>
        <p:spPr>
          <a:xfrm>
            <a:off x="360001" y="3491998"/>
            <a:ext cx="2700000" cy="1260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2" name="Inhaltsplatzhalter 2"/>
          <p:cNvSpPr>
            <a:spLocks noGrp="1"/>
          </p:cNvSpPr>
          <p:nvPr>
            <p:ph sz="quarter" idx="19"/>
          </p:nvPr>
        </p:nvSpPr>
        <p:spPr>
          <a:xfrm>
            <a:off x="3222002" y="3491998"/>
            <a:ext cx="2700000" cy="1260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3" name="Inhaltsplatzhalter 3"/>
          <p:cNvSpPr>
            <a:spLocks noGrp="1"/>
          </p:cNvSpPr>
          <p:nvPr>
            <p:ph sz="quarter" idx="20"/>
          </p:nvPr>
        </p:nvSpPr>
        <p:spPr>
          <a:xfrm>
            <a:off x="6084002" y="3491998"/>
            <a:ext cx="2700000" cy="1260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2852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2"/>
          </p:nvPr>
        </p:nvSpPr>
        <p:spPr>
          <a:xfrm>
            <a:off x="360002" y="972000"/>
            <a:ext cx="8424000" cy="3780000"/>
          </a:xfr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defRPr lang="de-DE"/>
            </a:lvl1pPr>
          </a:lstStyle>
          <a:p>
            <a:pPr lvl="0"/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4532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8430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927813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5" y="972000"/>
            <a:ext cx="4122737" cy="378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00132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972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0004" y="2952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21875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3" y="2952000"/>
            <a:ext cx="4122737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Bildplatzhalter 1">
            <a:extLst>
              <a:ext uri="{FF2B5EF4-FFF2-40B4-BE49-F238E27FC236}">
                <a16:creationId xmlns:a16="http://schemas.microsoft.com/office/drawing/2014/main" id="{4244940D-BCF9-4854-A262-67E8EFBBB0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972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88563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Pictures 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972000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972000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4657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76A22173-963E-47DA-BA5E-830D62C65C4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0004" y="2952556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6940BFB-5824-458B-B1F2-E9406433E6B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02741" y="2952556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11660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8E6E9FE-CE6E-4809-89BC-5C2FBA8FD1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0004" y="2952000"/>
            <a:ext cx="4122737" cy="1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84450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2" y="972000"/>
            <a:ext cx="2674746" cy="37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4" name="Bildplatzhalter 2">
            <a:extLst>
              <a:ext uri="{FF2B5EF4-FFF2-40B4-BE49-F238E27FC236}">
                <a16:creationId xmlns:a16="http://schemas.microsoft.com/office/drawing/2014/main" id="{E45A8B0F-33B4-90CA-586B-BA540BF562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6660" y="972000"/>
            <a:ext cx="5517341" cy="3780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59346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 hasCustomPrompt="1"/>
          </p:nvPr>
        </p:nvSpPr>
        <p:spPr>
          <a:xfrm>
            <a:off x="360002" y="4032000"/>
            <a:ext cx="8424000" cy="720000"/>
          </a:xfrm>
        </p:spPr>
        <p:txBody>
          <a:bodyPr/>
          <a:lstStyle>
            <a:lvl2pPr marL="0" indent="0">
              <a:buNone/>
              <a:defRPr/>
            </a:lvl2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2" y="972000"/>
            <a:ext cx="8424000" cy="2879111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4357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gaz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dirty="0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3060000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71601"/>
            <a:ext cx="2484000" cy="108000"/>
          </a:xfrm>
        </p:spPr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306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Bildplatzhalter 2"/>
          <p:cNvSpPr>
            <a:spLocks noGrp="1"/>
          </p:cNvSpPr>
          <p:nvPr>
            <p:ph type="pic" sz="quarter" idx="12"/>
          </p:nvPr>
        </p:nvSpPr>
        <p:spPr>
          <a:xfrm>
            <a:off x="3564000" y="0"/>
            <a:ext cx="5580000" cy="51435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912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gazine (blue)">
    <p:bg>
      <p:bgPr>
        <a:solidFill>
          <a:srgbClr val="002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186F5D01-180D-E760-A47A-88A7ECBE19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64000" y="0"/>
            <a:ext cx="5580000" cy="51435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5"/>
            <a:ext cx="3060000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2" y="972000"/>
            <a:ext cx="3060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29391" y="4871601"/>
            <a:ext cx="2484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E553B8C-1A4B-36BA-3482-8CAB42A7FF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" b="33"/>
          <a:stretch/>
        </p:blipFill>
        <p:spPr>
          <a:xfrm>
            <a:off x="360002" y="4796188"/>
            <a:ext cx="209204" cy="20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420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FD43FEB3-666E-7E1F-5B2C-65CFA8FF88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Name, Position</a:t>
            </a:r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C2AD7D0A-49BD-8878-4C0C-B38FBB72CB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„Insert a </a:t>
            </a:r>
            <a:r>
              <a:rPr lang="de-DE" dirty="0" err="1"/>
              <a:t>quote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nice </a:t>
            </a:r>
            <a:r>
              <a:rPr lang="de-DE" dirty="0" err="1"/>
              <a:t>place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go</a:t>
            </a:r>
            <a:r>
              <a:rPr lang="de-DE" dirty="0"/>
              <a:t>!“</a:t>
            </a:r>
          </a:p>
        </p:txBody>
      </p:sp>
    </p:spTree>
    <p:extLst>
      <p:ext uri="{BB962C8B-B14F-4D97-AF65-F5344CB8AC3E}">
        <p14:creationId xmlns:p14="http://schemas.microsoft.com/office/powerpoint/2010/main" val="8482201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73FC9BD-7338-0E63-59CA-40B27CEA74EE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64F8E7A1-BCD3-532D-DAAF-16C84BE887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6" name="Text Box 10">
              <a:extLst>
                <a:ext uri="{FF2B5EF4-FFF2-40B4-BE49-F238E27FC236}">
                  <a16:creationId xmlns:a16="http://schemas.microsoft.com/office/drawing/2014/main" id="{6F36FB3F-0833-0E50-B73A-B1AC72FCF693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A4BD2A3A-FD6A-F860-D5AB-D4BB89A3B2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 , Position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C1D538F-E186-22F5-0077-8D8F147541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„Insert a quote here. Lorem ipsum is a nice place to go!”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96586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bright Pictur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E2C458AD-83CE-32B0-933B-3D74A895478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9144000" cy="5143500"/>
          </a:xfrm>
          <a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de-DE" dirty="0"/>
              <a:t>Insert picture by clicking on the symbol (in the middle, you might need to move the quote text first to get there)…</a:t>
            </a:r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A4BD2A3A-FD6A-F860-D5AB-D4BB89A3B2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 , Position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C1D538F-E186-22F5-0077-8D8F147541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„Insert a quote here. Change the picture by moving the quote and click on the picture icon…”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93415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dark Pictur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E2C458AD-83CE-32B0-933B-3D74A895478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9144000" cy="5143500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picture by clicking on the symbol (in the middle, you might need to move the quote text first to get there)…</a:t>
            </a:r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A4BD2A3A-FD6A-F860-D5AB-D4BB89A3B2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 , Position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C1D538F-E186-22F5-0077-8D8F147541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„Insert a quote here. Change the picture by moving the quote and click on the picture icon…”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05589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Highlight Slide: 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2" y="972000"/>
            <a:ext cx="8424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930CF375-D2D8-7049-8838-653CE776D9A4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6E553B8C-1A4B-36BA-3482-8CAB42A7FF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4" name="Text Box 10">
              <a:extLst>
                <a:ext uri="{FF2B5EF4-FFF2-40B4-BE49-F238E27FC236}">
                  <a16:creationId xmlns:a16="http://schemas.microsoft.com/office/drawing/2014/main" id="{73FAFDC2-E0C2-6848-E936-8DC21CE5E3FE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62626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Highlight Slide: 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9248D9E-1B90-BC6D-A0B7-902F5377D954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A166C5BF-00FA-DD53-8868-536F948D0F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7" name="Text Box 10">
              <a:extLst>
                <a:ext uri="{FF2B5EF4-FFF2-40B4-BE49-F238E27FC236}">
                  <a16:creationId xmlns:a16="http://schemas.microsoft.com/office/drawing/2014/main" id="{ACB40CC4-1CC3-7CD8-CAA5-9BAAF4D6756A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83610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Highlight Slide: 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73FC9BD-7338-0E63-59CA-40B27CEA74EE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64F8E7A1-BCD3-532D-DAAF-16C84BE887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6" name="Text Box 10">
              <a:extLst>
                <a:ext uri="{FF2B5EF4-FFF2-40B4-BE49-F238E27FC236}">
                  <a16:creationId xmlns:a16="http://schemas.microsoft.com/office/drawing/2014/main" id="{6F36FB3F-0833-0E50-B73A-B1AC72FCF693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1299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60364" y="143955"/>
            <a:ext cx="8424001" cy="79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60002" y="972000"/>
            <a:ext cx="8424000" cy="37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29391" y="4871601"/>
            <a:ext cx="52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04001" y="4871601"/>
            <a:ext cx="18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1">
                <a:solidFill>
                  <a:schemeClr val="accent5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black">
          <a:xfrm>
            <a:off x="7607032" y="4871601"/>
            <a:ext cx="90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 algn="r"/>
            <a:r>
              <a:rPr lang="de-DE" dirty="0"/>
              <a:t>© ZF Friedrichshafen AG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715D946-1597-B199-E6D8-8C91CD72428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24395" t="24411" r="24395" b="24411"/>
          <a:stretch/>
        </p:blipFill>
        <p:spPr>
          <a:xfrm>
            <a:off x="360003" y="4796189"/>
            <a:ext cx="209204" cy="2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2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1" r:id="rId2"/>
    <p:sldLayoutId id="2147483719" r:id="rId3"/>
    <p:sldLayoutId id="2147483714" r:id="rId4"/>
    <p:sldLayoutId id="2147483720" r:id="rId5"/>
    <p:sldLayoutId id="2147483721" r:id="rId6"/>
    <p:sldLayoutId id="2147483715" r:id="rId7"/>
    <p:sldLayoutId id="2147483650" r:id="rId8"/>
    <p:sldLayoutId id="2147483722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54" r:id="rId17"/>
    <p:sldLayoutId id="2147483655" r:id="rId18"/>
    <p:sldLayoutId id="2147483693" r:id="rId19"/>
    <p:sldLayoutId id="2147483694" r:id="rId20"/>
    <p:sldLayoutId id="2147483695" r:id="rId21"/>
    <p:sldLayoutId id="2147483696" r:id="rId22"/>
    <p:sldLayoutId id="2147483698" r:id="rId23"/>
    <p:sldLayoutId id="2147483699" r:id="rId24"/>
    <p:sldLayoutId id="2147483718" r:id="rId25"/>
    <p:sldLayoutId id="2147483700" r:id="rId26"/>
    <p:sldLayoutId id="2147483724" r:id="rId27"/>
    <p:sldLayoutId id="2147483725" r:id="rId28"/>
    <p:sldLayoutId id="2147483726" r:id="rId29"/>
    <p:sldLayoutId id="2147483727" r:id="rId30"/>
    <p:sldLayoutId id="2147483728" r:id="rId31"/>
    <p:sldLayoutId id="2147483729" r:id="rId32"/>
    <p:sldLayoutId id="2147483688" r:id="rId33"/>
    <p:sldLayoutId id="2147483689" r:id="rId34"/>
    <p:sldLayoutId id="2147483690" r:id="rId3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30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None/>
        <a:defRPr sz="1200" b="1" kern="1200">
          <a:solidFill>
            <a:schemeClr val="tx1"/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6.xml"/><Relationship Id="rId5" Type="http://schemas.openxmlformats.org/officeDocument/2006/relationships/image" Target="../media/image20.png"/><Relationship Id="rId4" Type="http://schemas.openxmlformats.org/officeDocument/2006/relationships/image" Target="../media/image19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9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2.xml"/><Relationship Id="rId4" Type="http://schemas.openxmlformats.org/officeDocument/2006/relationships/image" Target="../media/image2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3.xml"/><Relationship Id="rId4" Type="http://schemas.openxmlformats.org/officeDocument/2006/relationships/image" Target="../media/image27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4.xml"/><Relationship Id="rId5" Type="http://schemas.openxmlformats.org/officeDocument/2006/relationships/image" Target="../media/image290.png"/><Relationship Id="rId4" Type="http://schemas.openxmlformats.org/officeDocument/2006/relationships/image" Target="../media/image2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7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B52CE1-9F6C-AFFE-555E-FD5061382BC2}"/>
              </a:ext>
            </a:extLst>
          </p:cNvPr>
          <p:cNvSpPr/>
          <p:nvPr/>
        </p:nvSpPr>
        <p:spPr>
          <a:xfrm>
            <a:off x="0" y="4758267"/>
            <a:ext cx="9144000" cy="38523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F92134-0A30-C551-14AB-C567FF3857C5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27E8C-1E17-1763-C6EE-F05D98493F30}"/>
              </a:ext>
            </a:extLst>
          </p:cNvPr>
          <p:cNvSpPr/>
          <p:nvPr/>
        </p:nvSpPr>
        <p:spPr>
          <a:xfrm>
            <a:off x="1891618" y="1009863"/>
            <a:ext cx="5360763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UPI Compiler Tool Chain:</a:t>
            </a:r>
          </a:p>
          <a:p>
            <a:pPr algn="ctr"/>
            <a:r>
              <a:rPr lang="en-US" sz="32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Conditional Operators</a:t>
            </a:r>
            <a:endParaRPr lang="en-US" sz="3200" b="1" cap="none" spc="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7B42F7-DFF0-1D58-1A5D-5133A2FF30A3}"/>
              </a:ext>
            </a:extLst>
          </p:cNvPr>
          <p:cNvSpPr txBox="1"/>
          <p:nvPr/>
        </p:nvSpPr>
        <p:spPr>
          <a:xfrm>
            <a:off x="69272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245893-B6BB-58E9-29F8-826205FFED02}"/>
              </a:ext>
            </a:extLst>
          </p:cNvPr>
          <p:cNvSpPr txBox="1"/>
          <p:nvPr/>
        </p:nvSpPr>
        <p:spPr>
          <a:xfrm>
            <a:off x="5985164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India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0626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7421C-309E-C5F6-B673-E346DEF02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D9C822-ECA6-0A40-0325-1DE7566FE172}"/>
              </a:ext>
            </a:extLst>
          </p:cNvPr>
          <p:cNvSpPr/>
          <p:nvPr/>
        </p:nvSpPr>
        <p:spPr>
          <a:xfrm>
            <a:off x="0" y="4758267"/>
            <a:ext cx="9144000" cy="38523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8A6580-F8A3-5145-6F78-DA8AD2A4F4F9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A26DBE-D49E-2644-6B17-6E9EEC2454BF}"/>
              </a:ext>
            </a:extLst>
          </p:cNvPr>
          <p:cNvSpPr/>
          <p:nvPr/>
        </p:nvSpPr>
        <p:spPr>
          <a:xfrm>
            <a:off x="127798" y="83518"/>
            <a:ext cx="663593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Line Alignment &amp; extended command:</a:t>
            </a:r>
            <a:endParaRPr lang="en-US" sz="2400" b="1" cap="none" spc="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50E61A-6709-B277-71AF-9C2FF8D62216}"/>
                  </a:ext>
                </a:extLst>
              </p:cNvPr>
              <p:cNvSpPr txBox="1"/>
              <p:nvPr/>
            </p:nvSpPr>
            <p:spPr>
              <a:xfrm>
                <a:off x="244763" y="595928"/>
                <a:ext cx="8502073" cy="23964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2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Multiple  </m:t>
                    </m:r>
                    <m:r>
                      <m:rPr>
                        <m:nor/>
                      </m:rPr>
                      <a:rPr lang="en-US" sz="12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variable </m:t>
                    </m:r>
                    <m:r>
                      <m:rPr>
                        <m:nor/>
                      </m:rPr>
                      <a:rPr lang="en-US" sz="12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declaration in single line</m:t>
                    </m:r>
                    <m:r>
                      <m:rPr>
                        <m:nor/>
                      </m:rPr>
                      <a:rPr lang="en-US" sz="12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2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200" b="0" i="1" kern="0" dirty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kern="0" dirty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1200" b="0" i="1" kern="0" dirty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200" b="0" i="1" kern="0" dirty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=2;</m:t>
                    </m:r>
                    <m:r>
                      <a:rPr lang="en-US" sz="1200" b="0" i="1" kern="0" dirty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200" b="0" i="1" kern="0" dirty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=3;</m:t>
                    </m:r>
                    <m:r>
                      <a:rPr lang="en-US" sz="1200" b="0" i="1" kern="0" dirty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200" b="0" i="1" kern="0" dirty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=4;</m:t>
                    </m:r>
                    <m:r>
                      <a:rPr lang="en-US" sz="1200" b="0" i="1" kern="0" dirty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200" b="0" i="1" kern="0" dirty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=5;</m:t>
                    </m:r>
                    <m:r>
                      <a:rPr lang="en-US" sz="1200" b="0" i="1" kern="0" dirty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200" b="0" i="1" kern="0" dirty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=6;</m:t>
                    </m:r>
                    <m:r>
                      <a:rPr lang="en-US" sz="1200" b="0" i="1" kern="0" dirty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200" b="0" i="1" kern="0" dirty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=7;</m:t>
                    </m:r>
                    <m:r>
                      <a:rPr lang="en-US" sz="1200" b="0" i="1" kern="0" dirty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sz="1200" b="0" i="1" kern="0" dirty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=8;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2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lang="en-US" sz="1200" i="1" kern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𝑝𝑢𝑏𝑙𝑖𝑠ℎ</m:t>
                    </m:r>
                    <m:d>
                      <m:d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;  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→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𝑡ℎ𝑒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𝑐𝑜𝑚𝑚𝑎𝑛𝑑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𝑝𝑢𝑏𝑙𝑖𝑠ℎ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𝑠𝑜𝑢𝑙𝑑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𝑡𝑎𝑘𝑒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𝑚𝑢𝑙𝑡𝑖𝑝𝑙𝑒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𝑣𝑎𝑟𝑖𝑎𝑏𝑙𝑒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𝑢𝑝𝑡𝑜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ℎ𝑜𝑟𝑖𝑧𝑜𝑛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lang="en-US" sz="1200" i="1" kern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𝑝𝑢𝑏𝑙𝑖𝑠ℎ</m:t>
                    </m:r>
                    <m:d>
                      <m:dPr>
                        <m:ctrlPr>
                          <a:rPr lang="en-US" sz="1200" i="1" kern="0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kern="0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i="1" kern="0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 kern="0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200" i="1" kern="0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 kern="0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200" i="1" kern="0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 kern="0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200" i="1" kern="0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,"</m:t>
                        </m:r>
                        <m:r>
                          <a:rPr lang="en-US" sz="1200" b="0" i="1" kern="0" smtClean="0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𝐼𝑛𝑑𝑖𝑎</m:t>
                        </m:r>
                        <m:r>
                          <a:rPr lang="en-US" sz="1200" b="0" i="1" kern="0" smtClean="0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",</m:t>
                        </m:r>
                        <m:r>
                          <a:rPr lang="en-US" sz="1200" i="1" kern="0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200" i="1" kern="0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 kern="0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200" i="1" kern="0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 kern="0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;   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𝑡ℎ𝑒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𝑐𝑜𝑚𝑚𝑎𝑛𝑑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𝑝𝑢𝑏𝑙𝑖𝑠ℎ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𝑠𝑜𝑢𝑙𝑑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𝑡𝑎𝑘𝑒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𝑎𝑙𝑟𝑒𝑎𝑑𝑦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𝑑𝑒𝑐𝑙𝑎𝑟𝑒𝑑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𝑚𝑢𝑙𝑡𝑖𝑝𝑙𝑒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𝑣𝑎𝑟𝑖𝑎𝑏𝑙𝑒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𝑤𝑖𝑡ℎ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𝑛𝑒𝑤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𝑣𝑎𝑟𝑖𝑎𝑏𝑙𝑒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𝑢𝑝𝑡𝑜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ℎ𝑜𝑟𝑖𝑧𝑜𝑛</m:t>
                    </m:r>
                    <m:r>
                      <a:rPr lang="en-US" sz="1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kern="0" dirty="0">
                  <a:solidFill>
                    <a:srgbClr val="000000"/>
                  </a:solidFill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Para xmlns:m="http://schemas.openxmlformats.org/officeDocument/2006/math"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𝑀𝑜𝑡𝑡𝑜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="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𝑁𝑎𝑡𝑢𝑟𝑒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𝑖𝑛𝑐𝑙𝑢𝑑𝑒𝑠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𝑒𝑣𝑒𝑟𝑦𝑡ℎ𝑖𝑛𝑔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𝑎𝑟𝑜𝑢𝑛𝑑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𝑢𝑠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𝑙𝑖𝑘𝑒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𝑡𝑟𝑒𝑒𝑠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𝑎𝑛𝑖𝑚𝑎𝑙𝑠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,  ~~</m:t>
                    </m:r>
                  </m:oMath>
                </a14:m>
                <a:endParaRPr lang="en-US" sz="1200" b="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lvl="3"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𝑟𝑖𝑣𝑒𝑟𝑠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𝑚𝑜𝑢𝑛𝑡𝑎𝑖𝑛𝑠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𝑡ℎ𝑎𝑡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𝑛𝑜𝑡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𝑚𝑎𝑑𝑒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𝑝𝑒𝑜𝑝𝑙𝑒</m:t>
                    </m:r>
                    <m:r>
                      <a:rPr lang="en-US" sz="12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12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25000"/>
                      </a:schemeClr>
                    </a:solidFill>
                    <a:effectLst/>
                    <a:uLnTx/>
                    <a:uFillTx/>
                  </a:rPr>
                  <a:t>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→</m:t>
                    </m:r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𝑠𝑝𝑙𝑖𝑡𝑖𝑛𝑔</m:t>
                    </m:r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𝑡ℎ𝑒</m:t>
                    </m:r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𝑙𝑜𝑛𝑔𝑒𝑟</m:t>
                    </m:r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𝑙𝑖𝑛𝑒𝑠</m:t>
                    </m:r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sz="1200" kern="0" dirty="0">
                  <a:solidFill>
                    <a:srgbClr val="0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𝑃𝑎𝑦𝑖𝑛𝑔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𝑎𝑡𝑡𝑒𝑛𝑡𝑖𝑜𝑛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𝑡𝑜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𝑡ℎ𝑒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𝑙𝑜𝑛𝑔𝑒𝑟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𝑠𝑡𝑟𝑖𝑛𝑔𝑠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50E61A-6709-B277-71AF-9C2FF8D62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63" y="595928"/>
                <a:ext cx="8502073" cy="2396425"/>
              </a:xfrm>
              <a:prstGeom prst="rect">
                <a:avLst/>
              </a:prstGeom>
              <a:blipFill>
                <a:blip r:embed="rId4"/>
                <a:stretch>
                  <a:fillRect l="-1004" t="-1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B74DF6-9ECA-5493-907F-7EBDDB9638BD}"/>
              </a:ext>
            </a:extLst>
          </p:cNvPr>
          <p:cNvCxnSpPr>
            <a:cxnSpLocks/>
          </p:cNvCxnSpPr>
          <p:nvPr/>
        </p:nvCxnSpPr>
        <p:spPr>
          <a:xfrm>
            <a:off x="127798" y="2710873"/>
            <a:ext cx="879914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BC1C3DD-95F0-7218-A6E2-8D6E77AD6703}"/>
              </a:ext>
            </a:extLst>
          </p:cNvPr>
          <p:cNvSpPr/>
          <p:nvPr/>
        </p:nvSpPr>
        <p:spPr>
          <a:xfrm>
            <a:off x="127798" y="2725154"/>
            <a:ext cx="663593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Dictionary: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93E1A5-C9AD-9140-DDD4-D8E63B4D2598}"/>
                  </a:ext>
                </a:extLst>
              </p:cNvPr>
              <p:cNvSpPr txBox="1"/>
              <p:nvPr/>
            </p:nvSpPr>
            <p:spPr>
              <a:xfrm>
                <a:off x="180109" y="3232727"/>
                <a:ext cx="4525818" cy="13072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𝐴𝑘𝑒𝑦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[</m:t>
                        </m:r>
                      </m:e>
                      <m:sup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𝑛𝑎𝑚</m:t>
                    </m:r>
                    <m:sSup>
                      <m:sSup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</m:e>
                      <m:sup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𝑎𝑔</m:t>
                    </m:r>
                    <m:sSup>
                      <m:sSup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</m:e>
                      <m:sup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𝑏𝑙𝑜𝑜𝑑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′];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𝐵𝑣𝑎𝑙𝑢𝑒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[</m:t>
                        </m:r>
                      </m:e>
                      <m:sup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𝑎𝑝𝑗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′,′63′,′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+′];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𝐷𝑖𝑐𝑡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_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𝑉𝑎𝑟𝑖𝑎𝑏𝑙𝑒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𝑑𝑖𝑐𝑡</m:t>
                    </m:r>
                    <m:d>
                      <m:d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𝑘𝑒𝑦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2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𝑣𝑎𝑙𝑢𝑒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→  </m:t>
                    </m:r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𝑑𝑖𝑐𝑡</m:t>
                    </m:r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𝐴𝑘𝑒𝑦</m:t>
                    </m:r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:</m:t>
                    </m:r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𝐵𝑣𝑎𝑙𝑢𝑒</m:t>
                    </m:r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[</m:t>
                        </m:r>
                      </m:e>
                      <m:sup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𝑐𝑜𝑙𝑜</m:t>
                    </m:r>
                    <m:sSup>
                      <m:sSup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]</m:t>
                    </m:r>
                    <m:sSup>
                      <m:sSup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 </m:t>
                        </m:r>
                      </m:e>
                      <m:sup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𝑟𝑒</m:t>
                    </m:r>
                    <m:sSup>
                      <m:sSup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[</m:t>
                        </m:r>
                      </m:e>
                      <m:sup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𝑓𝑟𝑢𝑖</m:t>
                    </m:r>
                    <m:sSup>
                      <m:sSup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</m:e>
                      <m:sup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𝑣𝑒ℎ𝑖𝑐𝑙</m:t>
                    </m:r>
                    <m:sSup>
                      <m:sSup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</m:e>
                      <m:sup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𝑔𝑒𝑛𝑑𝑒𝑟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′]=</m:t>
                    </m:r>
                    <m:sSup>
                      <m:sSup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[</m:t>
                        </m:r>
                      </m:e>
                      <m:sup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𝑎𝑝𝑝𝑙𝑒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′,′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𝑐𝑎𝑟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′,′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𝑚𝑎𝑙𝑒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′] </m:t>
                    </m:r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93E1A5-C9AD-9140-DDD4-D8E63B4D2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09" y="3232727"/>
                <a:ext cx="4525818" cy="1307281"/>
              </a:xfrm>
              <a:prstGeom prst="rect">
                <a:avLst/>
              </a:prstGeom>
              <a:blipFill>
                <a:blip r:embed="rId5"/>
                <a:stretch>
                  <a:fillRect l="-2022" t="-2791" b="-4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4623991-E2B0-252C-D57F-DD71229B3EEB}"/>
              </a:ext>
            </a:extLst>
          </p:cNvPr>
          <p:cNvSpPr txBox="1"/>
          <p:nvPr/>
        </p:nvSpPr>
        <p:spPr>
          <a:xfrm>
            <a:off x="4954914" y="2928474"/>
            <a:ext cx="3851563" cy="16927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uLnTx/>
                <a:uFillTx/>
              </a:rPr>
              <a:t>Keys   = </a:t>
            </a:r>
            <a:r>
              <a:rPr kumimoji="0" lang="en-US" sz="1000" b="0" i="1" u="none" strike="noStrike" kern="0" cap="none" spc="0" normalizeH="0" baseline="0" noProof="0" dirty="0" err="1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uLnTx/>
                <a:uFillTx/>
              </a:rPr>
              <a:t>Dict_variable.keys</a:t>
            </a: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uLnTx/>
                <a:uFillTx/>
              </a:rPr>
              <a:t>();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000" b="0" i="1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25000"/>
                </a:schemeClr>
              </a:solidFill>
              <a:effectLst/>
              <a:uLnTx/>
              <a:uFillTx/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000" i="1" kern="0" dirty="0">
                <a:solidFill>
                  <a:schemeClr val="accent3">
                    <a:lumMod val="25000"/>
                  </a:schemeClr>
                </a:solidFill>
              </a:rPr>
              <a:t>Values = </a:t>
            </a:r>
            <a:r>
              <a:rPr lang="en-US" sz="1000" i="1" kern="0" dirty="0" err="1">
                <a:solidFill>
                  <a:schemeClr val="accent3">
                    <a:lumMod val="25000"/>
                  </a:schemeClr>
                </a:solidFill>
              </a:rPr>
              <a:t>Dict_variable.values</a:t>
            </a:r>
            <a:r>
              <a:rPr lang="en-US" sz="1000" i="1" kern="0" dirty="0">
                <a:solidFill>
                  <a:schemeClr val="accent3">
                    <a:lumMod val="25000"/>
                  </a:schemeClr>
                </a:solidFill>
              </a:rPr>
              <a:t>();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1000" i="1" kern="0" dirty="0">
              <a:solidFill>
                <a:schemeClr val="accent3">
                  <a:lumMod val="25000"/>
                </a:schemeClr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uLnTx/>
                <a:uFillTx/>
              </a:rPr>
              <a:t>Value_1 = </a:t>
            </a:r>
            <a:r>
              <a:rPr kumimoji="0" lang="en-US" sz="1000" b="0" i="1" u="none" strike="noStrike" kern="0" cap="none" spc="0" normalizeH="0" baseline="0" noProof="0" dirty="0" err="1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uLnTx/>
                <a:uFillTx/>
              </a:rPr>
              <a:t>Dict_variable</a:t>
            </a: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uLnTx/>
                <a:uFillTx/>
              </a:rPr>
              <a:t>[‘key1’];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1000" i="1" kern="0" dirty="0">
              <a:solidFill>
                <a:schemeClr val="accent3">
                  <a:lumMod val="25000"/>
                </a:schemeClr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uLnTx/>
                <a:uFillTx/>
              </a:rPr>
              <a:t>Key_1 = </a:t>
            </a:r>
            <a:r>
              <a:rPr kumimoji="0" lang="en-US" sz="1000" b="0" i="1" u="none" strike="noStrike" kern="0" cap="none" spc="0" normalizeH="0" baseline="0" noProof="0" dirty="0" err="1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uLnTx/>
                <a:uFillTx/>
              </a:rPr>
              <a:t>Dict_variable.match_key</a:t>
            </a: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uLnTx/>
                <a:uFillTx/>
              </a:rPr>
              <a:t>[‘value_1’]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1000" i="1" kern="0" dirty="0">
              <a:solidFill>
                <a:schemeClr val="accent3">
                  <a:lumMod val="25000"/>
                </a:schemeClr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uLnTx/>
                <a:uFillTx/>
              </a:rPr>
              <a:t>L = </a:t>
            </a:r>
            <a:r>
              <a:rPr kumimoji="0" lang="en-US" sz="1000" b="0" i="1" u="none" strike="noStrike" kern="0" cap="none" spc="0" normalizeH="0" baseline="0" noProof="0" dirty="0" err="1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uLnTx/>
                <a:uFillTx/>
              </a:rPr>
              <a:t>Dict_Variable.size</a:t>
            </a: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uLnTx/>
                <a:uFillTx/>
              </a:rPr>
              <a:t>();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1000" i="1" kern="0" dirty="0">
              <a:solidFill>
                <a:schemeClr val="accent3">
                  <a:lumMod val="25000"/>
                </a:schemeClr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000" b="0" i="1" u="none" strike="noStrike" kern="0" cap="none" spc="0" normalizeH="0" baseline="0" noProof="0" dirty="0" err="1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uLnTx/>
                <a:uFillTx/>
              </a:rPr>
              <a:t>Special_Functions</a:t>
            </a:r>
            <a:endParaRPr kumimoji="0" lang="en-US" sz="1000" b="0" i="1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E75EB2-C069-631B-F252-6348D325A86D}"/>
              </a:ext>
            </a:extLst>
          </p:cNvPr>
          <p:cNvSpPr txBox="1"/>
          <p:nvPr/>
        </p:nvSpPr>
        <p:spPr>
          <a:xfrm>
            <a:off x="69272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3EA096-AE7C-3DFA-957B-1B358794D8E1}"/>
              </a:ext>
            </a:extLst>
          </p:cNvPr>
          <p:cNvSpPr txBox="1"/>
          <p:nvPr/>
        </p:nvSpPr>
        <p:spPr>
          <a:xfrm>
            <a:off x="5985164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India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9383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B7461-ACFA-DAF2-3F8F-87EBCE67D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2FC2D8-1877-0163-7F9D-2D36E88F1070}"/>
              </a:ext>
            </a:extLst>
          </p:cNvPr>
          <p:cNvSpPr/>
          <p:nvPr/>
        </p:nvSpPr>
        <p:spPr>
          <a:xfrm>
            <a:off x="0" y="4758267"/>
            <a:ext cx="9144000" cy="38523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EBA2C9-514E-74A3-F9CE-805BE6E49483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2A7820-987F-3A13-2F5F-B87A028F9DAC}"/>
              </a:ext>
            </a:extLst>
          </p:cNvPr>
          <p:cNvSpPr/>
          <p:nvPr/>
        </p:nvSpPr>
        <p:spPr>
          <a:xfrm>
            <a:off x="135303" y="83332"/>
            <a:ext cx="22573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 Creation:</a:t>
            </a:r>
            <a:endParaRPr lang="en-US" sz="2400" b="1" cap="none" spc="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67A757-E6F7-C6B5-3943-6D7A329A4F99}"/>
                  </a:ext>
                </a:extLst>
              </p:cNvPr>
              <p:cNvSpPr txBox="1"/>
              <p:nvPr/>
            </p:nvSpPr>
            <p:spPr>
              <a:xfrm>
                <a:off x="244763" y="595928"/>
                <a:ext cx="8502073" cy="50140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𝑠𝑡𝑎𝑟𝑡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𝑒𝑛𝑑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 →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1:10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 →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1,2,3,4,5,6,7,8,9,10</m:t>
                        </m:r>
                      </m:e>
                    </m:d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lang="en-US" sz="1200" kern="0" dirty="0">
                  <a:solidFill>
                    <a:srgbClr val="0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𝑠𝑡𝑎𝑟𝑡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𝑒𝑛𝑑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1:10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2,3,4,5,6,7,8,9</m:t>
                        </m:r>
                      </m:e>
                    </m:d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d>
                      <m:dPr>
                        <m:endChr m:val="]"/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𝑠𝑡𝑎𝑟𝑡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𝑒𝑛𝑑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endChr m:val="]"/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1:10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2,3,4,5,6,7,8,9,10</m:t>
                        </m:r>
                      </m:e>
                    </m:d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𝑠𝑡𝑎𝑟𝑡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𝑒𝑛𝑑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1;10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1,2,3,4,5,6,7,8,9</m:t>
                        </m:r>
                      </m:e>
                    </m:d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1200" kern="0" dirty="0">
                    <a:solidFill>
                      <a:srgbClr val="000000"/>
                    </a:solidFill>
                  </a:rPr>
                  <a:t>------------------------------------------------------------</a:t>
                </a: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1200" kern="0" dirty="0">
                    <a:solidFill>
                      <a:srgbClr val="000000"/>
                    </a:solidFill>
                  </a:rPr>
                  <a:t>For intervals-based iterations:</a:t>
                </a: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lang="en-US" sz="1200" kern="0" dirty="0">
                  <a:solidFill>
                    <a:srgbClr val="0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𝑠𝑡𝑎𝑟𝑡</m:t>
                        </m:r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𝑠𝑡𝑒𝑝</m:t>
                        </m:r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𝑒𝑛𝑑</m:t>
                        </m:r>
                      </m:e>
                    </m:d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→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1:2:10</m:t>
                        </m:r>
                      </m:e>
                    </m:d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  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1,3,5,7,9</m:t>
                        </m:r>
                      </m:e>
                    </m:d>
                  </m:oMath>
                </a14:m>
                <a:endParaRPr lang="en-US" sz="1200" b="0" kern="0" dirty="0">
                  <a:solidFill>
                    <a:srgbClr val="0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lang="en-US" sz="1200" kern="0" dirty="0">
                  <a:solidFill>
                    <a:srgbClr val="0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𝑠𝑡𝑎𝑟𝑡</m:t>
                        </m:r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𝑠𝑡𝑒</m:t>
                        </m:r>
                        <m:sSub>
                          <m:sSubPr>
                            <m:ctrlPr>
                              <a:rPr lang="en-US" sz="1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𝑓𝑟𝑎𝑐𝑡𝑖𝑜𝑛</m:t>
                            </m:r>
                          </m:sub>
                        </m:sSub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𝐸𝑛𝑑</m:t>
                        </m:r>
                      </m:e>
                    </m:d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1:0.1:2</m:t>
                        </m:r>
                      </m:e>
                    </m:d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1,1.1,1.2,1.3,1.4,1.5,1.6,1.7,1.8,1.9,2.0</m:t>
                        </m:r>
                      </m:e>
                    </m:d>
                  </m:oMath>
                </a14:m>
                <a:endParaRPr lang="en-US" sz="1200" b="0" kern="0" dirty="0">
                  <a:solidFill>
                    <a:srgbClr val="0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lang="en-US" sz="1200" b="0" kern="0" dirty="0">
                  <a:solidFill>
                    <a:srgbClr val="0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sz="1200" b="0" kern="0" dirty="0">
                    <a:solidFill>
                      <a:srgbClr val="000000"/>
                    </a:solidFill>
                  </a:rPr>
                  <a:t>Function for creating linear space : </a:t>
                </a: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𝑠𝑝𝑎𝑐𝑒</m:t>
                    </m:r>
                    <m:d>
                      <m:dPr>
                        <m:ctrlP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𝑠𝑡𝑎𝑟𝑡</m:t>
                        </m:r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𝑠𝑡𝑜𝑝</m:t>
                        </m:r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𝑝𝑜𝑖𝑛𝑡𝑠</m:t>
                        </m:r>
                      </m:e>
                    </m:d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200" b="0" i="1" kern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𝑠𝑝𝑎𝑐𝑒</m:t>
                    </m:r>
                    <m:d>
                      <m:dPr>
                        <m:ctrlPr>
                          <a:rPr lang="en-US" sz="12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0,1,100</m:t>
                        </m:r>
                      </m:e>
                    </m:d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→[0.0,0.1,…,0.99,1.0]</m:t>
                    </m:r>
                  </m:oMath>
                </a14:m>
                <a:endParaRPr lang="en-US" sz="1200" b="0" kern="0" dirty="0">
                  <a:solidFill>
                    <a:srgbClr val="C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lang="en-US" sz="1200" b="0" kern="0" dirty="0">
                  <a:solidFill>
                    <a:srgbClr val="0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sz="1200" kern="0" dirty="0">
                    <a:solidFill>
                      <a:srgbClr val="000000"/>
                    </a:solidFill>
                  </a:rPr>
                  <a:t>Function for creating non-linear space : </a:t>
                </a: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𝑛𝑙𝑠𝑝𝑎𝑐𝑒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𝑒𝑛𝑑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𝑝𝑜𝑖𝑛𝑡𝑠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="")</m:t>
                    </m:r>
                  </m:oMath>
                </a14:m>
                <a:endParaRPr lang="en-US" sz="1200" b="0" kern="0" dirty="0">
                  <a:solidFill>
                    <a:srgbClr val="000000"/>
                  </a:solidFill>
                </a:endParaRPr>
              </a:p>
              <a:p>
                <a:pPr marL="2000250" lvl="4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200" b="0" i="1" kern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𝑛𝑑𝑠𝑝𝑎𝑐𝑒</m:t>
                    </m:r>
                    <m:d>
                      <m:dPr>
                        <m:ctrlPr>
                          <a:rPr lang="en-US" sz="12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200" b="0" i="1" kern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kern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0:1:100</m:t>
                            </m:r>
                          </m:e>
                        </m:d>
                        <m:r>
                          <a:rPr lang="en-US" sz="12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𝑚𝑒𝑎𝑛</m:t>
                        </m:r>
                        <m:r>
                          <a:rPr lang="en-US" sz="12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200" b="0" i="0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  <m:sSup>
                          <m:sSupPr>
                            <m:ctrlPr>
                              <a:rPr lang="en-US" sz="1200" b="0" i="1" kern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kern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75</m:t>
                            </m:r>
                          </m:e>
                          <m:sup>
                            <m:r>
                              <a:rPr lang="en-US" sz="1200" b="0" i="1" kern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2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𝑠𝑡𝑑</m:t>
                        </m:r>
                        <m:sSup>
                          <m:sSupPr>
                            <m:ctrlPr>
                              <a:rPr lang="en-US" sz="1200" b="0" i="1" kern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kern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sup>
                            <m:r>
                              <a:rPr lang="en-US" sz="1200" b="0" i="1" kern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2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2.1′</m:t>
                        </m:r>
                      </m:e>
                    </m:d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→[0.0,0.1,……2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𝑝𝑜𝑖𝑛𝑡𝑠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𝑛𝑒𝑎𝑟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  <m:r>
                      <a:rPr lang="en-US" sz="1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….0.99,1.0]</m:t>
                    </m:r>
                  </m:oMath>
                </a14:m>
                <a:endParaRPr lang="en-US" sz="1200" b="0" kern="0" dirty="0">
                  <a:solidFill>
                    <a:srgbClr val="0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lang="en-US" sz="1200" kern="0" dirty="0">
                  <a:solidFill>
                    <a:srgbClr val="0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sz="1200" kern="0" dirty="0">
                    <a:solidFill>
                      <a:srgbClr val="000000"/>
                    </a:solidFill>
                  </a:rPr>
                  <a:t>Custom development for other types; skew, inverse normal, normal distribution with specified mean and std.</a:t>
                </a: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lang="en-US" sz="1200" kern="0" dirty="0">
                  <a:solidFill>
                    <a:srgbClr val="0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67A757-E6F7-C6B5-3943-6D7A329A4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63" y="595928"/>
                <a:ext cx="8502073" cy="5014001"/>
              </a:xfrm>
              <a:prstGeom prst="rect">
                <a:avLst/>
              </a:prstGeom>
              <a:blipFill>
                <a:blip r:embed="rId4"/>
                <a:stretch>
                  <a:fillRect l="-1075" t="-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7134CC2-1B29-99DD-2590-F8CBE26C6E2E}"/>
              </a:ext>
            </a:extLst>
          </p:cNvPr>
          <p:cNvSpPr txBox="1"/>
          <p:nvPr/>
        </p:nvSpPr>
        <p:spPr>
          <a:xfrm>
            <a:off x="4705927" y="720436"/>
            <a:ext cx="305723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i="1" u="sng" strike="noStrike" kern="0" cap="none" spc="0" normalizeH="0" baseline="0" noProof="0" dirty="0">
                <a:ln>
                  <a:noFill/>
                </a:ln>
                <a:solidFill>
                  <a:srgbClr val="00A7AB"/>
                </a:solidFill>
                <a:effectLst/>
                <a:uLnTx/>
                <a:uFillTx/>
              </a:rPr>
              <a:t>Con</a:t>
            </a:r>
            <a:r>
              <a:rPr lang="en-US" sz="1000" i="1" u="sng" kern="0" dirty="0">
                <a:solidFill>
                  <a:srgbClr val="00A7AB"/>
                </a:solidFill>
              </a:rPr>
              <a:t>sider [] as ideal bracket for UPI</a:t>
            </a:r>
            <a:endParaRPr kumimoji="0" lang="en-US" sz="1000" i="1" u="sng" strike="noStrike" kern="0" cap="none" spc="0" normalizeH="0" baseline="0" noProof="0" dirty="0">
              <a:ln>
                <a:noFill/>
              </a:ln>
              <a:solidFill>
                <a:srgbClr val="00A7AB"/>
              </a:solidFill>
              <a:effectLst/>
              <a:uLnTx/>
              <a:uFillTx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2C4A2A-B6E5-21AB-CFBB-EA4EFD100C15}"/>
              </a:ext>
            </a:extLst>
          </p:cNvPr>
          <p:cNvSpPr txBox="1"/>
          <p:nvPr/>
        </p:nvSpPr>
        <p:spPr>
          <a:xfrm>
            <a:off x="69272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6D389E-0338-71F1-F9AF-4AC4970171AC}"/>
              </a:ext>
            </a:extLst>
          </p:cNvPr>
          <p:cNvSpPr txBox="1"/>
          <p:nvPr/>
        </p:nvSpPr>
        <p:spPr>
          <a:xfrm>
            <a:off x="5985164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India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5578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ADEB2-D257-95FB-9C7B-FACC2B879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7F8D9D-25AD-C589-C25B-B0834E0AABCE}"/>
              </a:ext>
            </a:extLst>
          </p:cNvPr>
          <p:cNvSpPr/>
          <p:nvPr/>
        </p:nvSpPr>
        <p:spPr>
          <a:xfrm>
            <a:off x="0" y="4802909"/>
            <a:ext cx="9144000" cy="340591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778411-362B-F488-49C9-F6A56499BC40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34B50-DD0E-38C8-4004-05625BD9FD0E}"/>
              </a:ext>
            </a:extLst>
          </p:cNvPr>
          <p:cNvSpPr/>
          <p:nvPr/>
        </p:nvSpPr>
        <p:spPr>
          <a:xfrm>
            <a:off x="0" y="119649"/>
            <a:ext cx="519725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Available Conditional Operators:</a:t>
            </a:r>
            <a:endParaRPr lang="en-US" sz="2400" b="1" cap="none" spc="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851CE40-B8E8-27C3-AB63-15395052F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057938"/>
              </p:ext>
            </p:extLst>
          </p:nvPr>
        </p:nvGraphicFramePr>
        <p:xfrm>
          <a:off x="263235" y="842028"/>
          <a:ext cx="2766292" cy="157623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383146">
                  <a:extLst>
                    <a:ext uri="{9D8B030D-6E8A-4147-A177-3AD203B41FA5}">
                      <a16:colId xmlns:a16="http://schemas.microsoft.com/office/drawing/2014/main" val="3102739039"/>
                    </a:ext>
                  </a:extLst>
                </a:gridCol>
                <a:gridCol w="1383146">
                  <a:extLst>
                    <a:ext uri="{9D8B030D-6E8A-4147-A177-3AD203B41FA5}">
                      <a16:colId xmlns:a16="http://schemas.microsoft.com/office/drawing/2014/main" val="1086047541"/>
                    </a:ext>
                  </a:extLst>
                </a:gridCol>
              </a:tblGrid>
              <a:tr h="17335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Expression</a:t>
                      </a:r>
                    </a:p>
                  </a:txBody>
                  <a:tcPr>
                    <a:solidFill>
                      <a:srgbClr val="A2D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Notation</a:t>
                      </a:r>
                    </a:p>
                  </a:txBody>
                  <a:tcPr>
                    <a:solidFill>
                      <a:srgbClr val="A2D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217775"/>
                  </a:ext>
                </a:extLst>
              </a:tr>
              <a:tr h="17335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Is 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==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992160"/>
                  </a:ext>
                </a:extLst>
              </a:tr>
              <a:tr h="17335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Is not equal 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!=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004106"/>
                  </a:ext>
                </a:extLst>
              </a:tr>
              <a:tr h="17335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Is greater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223778"/>
                  </a:ext>
                </a:extLst>
              </a:tr>
              <a:tr h="17335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Is lesser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&lt;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067940"/>
                  </a:ext>
                </a:extLst>
              </a:tr>
              <a:tr h="264588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Is greater than or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&gt;=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350507"/>
                  </a:ext>
                </a:extLst>
              </a:tr>
              <a:tr h="244844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Is lesser than or equal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&lt;=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26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8FC6CA4-2D22-6A92-89B7-618AC149DBAE}"/>
              </a:ext>
            </a:extLst>
          </p:cNvPr>
          <p:cNvSpPr txBox="1"/>
          <p:nvPr/>
        </p:nvSpPr>
        <p:spPr>
          <a:xfrm>
            <a:off x="263235" y="609779"/>
            <a:ext cx="1570183" cy="1893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uLnTx/>
                <a:uFillTx/>
              </a:rPr>
              <a:t>Binary Operators: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D6D7142-15E4-9DCE-D149-608272ADB0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292257"/>
                  </p:ext>
                </p:extLst>
              </p:nvPr>
            </p:nvGraphicFramePr>
            <p:xfrm>
              <a:off x="3127159" y="842028"/>
              <a:ext cx="2280460" cy="1543367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140230">
                      <a:extLst>
                        <a:ext uri="{9D8B030D-6E8A-4147-A177-3AD203B41FA5}">
                          <a16:colId xmlns:a16="http://schemas.microsoft.com/office/drawing/2014/main" val="3102739039"/>
                        </a:ext>
                      </a:extLst>
                    </a:gridCol>
                    <a:gridCol w="1140230">
                      <a:extLst>
                        <a:ext uri="{9D8B030D-6E8A-4147-A177-3AD203B41FA5}">
                          <a16:colId xmlns:a16="http://schemas.microsoft.com/office/drawing/2014/main" val="1086047541"/>
                        </a:ext>
                      </a:extLst>
                    </a:gridCol>
                  </a:tblGrid>
                  <a:tr h="2204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Expression </a:t>
                          </a:r>
                        </a:p>
                      </a:txBody>
                      <a:tcPr>
                        <a:solidFill>
                          <a:srgbClr val="A2D3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Notation</a:t>
                          </a:r>
                        </a:p>
                      </a:txBody>
                      <a:tcPr>
                        <a:solidFill>
                          <a:srgbClr val="A2D3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8217775"/>
                      </a:ext>
                    </a:extLst>
                  </a:tr>
                  <a:tr h="2204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And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&amp;&amp;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9992160"/>
                      </a:ext>
                    </a:extLst>
                  </a:tr>
                  <a:tr h="2204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||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8004106"/>
                      </a:ext>
                    </a:extLst>
                  </a:tr>
                  <a:tr h="2204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Nand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!&amp;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0081435"/>
                      </a:ext>
                    </a:extLst>
                  </a:tr>
                  <a:tr h="2204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Nor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!|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6131833"/>
                      </a:ext>
                    </a:extLst>
                  </a:tr>
                  <a:tr h="2204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8403993"/>
                      </a:ext>
                    </a:extLst>
                  </a:tr>
                  <a:tr h="2204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Not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𝑛𝑜𝑡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71459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D6D7142-15E4-9DCE-D149-608272ADB0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292257"/>
                  </p:ext>
                </p:extLst>
              </p:nvPr>
            </p:nvGraphicFramePr>
            <p:xfrm>
              <a:off x="3127159" y="842028"/>
              <a:ext cx="2280460" cy="1543367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140230">
                      <a:extLst>
                        <a:ext uri="{9D8B030D-6E8A-4147-A177-3AD203B41FA5}">
                          <a16:colId xmlns:a16="http://schemas.microsoft.com/office/drawing/2014/main" val="3102739039"/>
                        </a:ext>
                      </a:extLst>
                    </a:gridCol>
                    <a:gridCol w="1140230">
                      <a:extLst>
                        <a:ext uri="{9D8B030D-6E8A-4147-A177-3AD203B41FA5}">
                          <a16:colId xmlns:a16="http://schemas.microsoft.com/office/drawing/2014/main" val="1086047541"/>
                        </a:ext>
                      </a:extLst>
                    </a:gridCol>
                  </a:tblGrid>
                  <a:tr h="2204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Expression </a:t>
                          </a:r>
                        </a:p>
                      </a:txBody>
                      <a:tcPr>
                        <a:solidFill>
                          <a:srgbClr val="A2D3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Notation</a:t>
                          </a:r>
                        </a:p>
                      </a:txBody>
                      <a:tcPr>
                        <a:solidFill>
                          <a:srgbClr val="A2D3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8217775"/>
                      </a:ext>
                    </a:extLst>
                  </a:tr>
                  <a:tr h="2204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And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&amp;&amp;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9992160"/>
                      </a:ext>
                    </a:extLst>
                  </a:tr>
                  <a:tr h="2204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||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8004106"/>
                      </a:ext>
                    </a:extLst>
                  </a:tr>
                  <a:tr h="2204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Nand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!&amp;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0081435"/>
                      </a:ext>
                    </a:extLst>
                  </a:tr>
                  <a:tr h="2204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Nor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!|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6131833"/>
                      </a:ext>
                    </a:extLst>
                  </a:tr>
                  <a:tr h="2204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532" t="-491892" r="-1596" b="-10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8403993"/>
                      </a:ext>
                    </a:extLst>
                  </a:tr>
                  <a:tr h="2204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Not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532" t="-608333" r="-1596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71459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999F6C0-297E-4354-91E1-A158F0363A48}"/>
              </a:ext>
            </a:extLst>
          </p:cNvPr>
          <p:cNvSpPr txBox="1"/>
          <p:nvPr/>
        </p:nvSpPr>
        <p:spPr>
          <a:xfrm>
            <a:off x="3127160" y="625242"/>
            <a:ext cx="1519698" cy="1893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uLnTx/>
                <a:uFillTx/>
              </a:rPr>
              <a:t>Logical Operators: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AF395CA-680C-06F4-AB72-B3CE1FA85084}"/>
                  </a:ext>
                </a:extLst>
              </p:cNvPr>
              <p:cNvSpPr/>
              <p:nvPr/>
            </p:nvSpPr>
            <p:spPr>
              <a:xfrm>
                <a:off x="5505253" y="119649"/>
                <a:ext cx="3588327" cy="2069369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𝑎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==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𝑏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;  →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𝑇𝑟𝑢𝑒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𝑜𝑟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𝐹𝑎𝑙𝑠𝑒</m:t>
                    </m:r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𝑎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!=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𝑏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;→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𝑇𝑟𝑢𝑒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𝑜𝑟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𝐹𝑎𝑙𝑠𝑒</m:t>
                    </m:r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</m:t>
                    </m:r>
                    <m:r>
                      <a:rPr lang="en-US" sz="1200" b="0" i="1" kern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&gt;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𝑏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𝑇𝑟𝑢𝑒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𝑜𝑟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𝐹𝑎𝑙𝑠𝑒</m:t>
                    </m:r>
                  </m:oMath>
                </a14:m>
                <a:endParaRPr lang="en-US" sz="12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</m:t>
                    </m:r>
                    <m:r>
                      <a:rPr lang="en-US" sz="1200" b="0" i="1" kern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&lt;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𝑏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𝑇𝑟𝑢𝑒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𝑜𝑟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𝐹𝑎𝑙𝑠𝑒</m:t>
                    </m:r>
                  </m:oMath>
                </a14:m>
                <a:endParaRPr lang="en-US" sz="12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</m:t>
                    </m:r>
                    <m:r>
                      <a:rPr lang="en-US" sz="1200" b="0" i="1" kern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&lt; =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𝑏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𝑇𝑟𝑢𝑒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𝑜𝑟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𝐹𝑎𝑙𝑠𝑒</m:t>
                    </m:r>
                  </m:oMath>
                </a14:m>
                <a:endParaRPr lang="en-US" sz="12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</m:t>
                    </m:r>
                    <m:r>
                      <a:rPr lang="en-US" sz="1200" b="0" i="1" kern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&gt;</m:t>
                    </m:r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=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𝑏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𝑇𝑟𝑢𝑒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𝑜𝑟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𝐹𝑎𝑙𝑠𝑒</m:t>
                    </m:r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AF395CA-680C-06F4-AB72-B3CE1FA850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253" y="119649"/>
                <a:ext cx="3588327" cy="20693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1FDE935-9877-26C1-A202-464EA1C9CFA8}"/>
              </a:ext>
            </a:extLst>
          </p:cNvPr>
          <p:cNvSpPr txBox="1"/>
          <p:nvPr/>
        </p:nvSpPr>
        <p:spPr>
          <a:xfrm>
            <a:off x="263235" y="2491976"/>
            <a:ext cx="448887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*Twin character symbols should be written without space. Otherwise, it is syntax error.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CD71D7D-EE4A-8915-B725-AA598704FE4F}"/>
                  </a:ext>
                </a:extLst>
              </p:cNvPr>
              <p:cNvSpPr/>
              <p:nvPr/>
            </p:nvSpPr>
            <p:spPr>
              <a:xfrm>
                <a:off x="5505252" y="2253494"/>
                <a:ext cx="3588327" cy="2461670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2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12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𝑎</m:t>
                        </m:r>
                        <m:r>
                          <a:rPr lang="en-US" sz="1200" i="1" ker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=</m:t>
                        </m:r>
                        <m:r>
                          <a:rPr lang="en-US" sz="1200" b="0" i="1" kern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=</m:t>
                        </m:r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𝑏</m:t>
                        </m:r>
                      </m:e>
                    </m:d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&amp;&amp;(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==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𝑐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);→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𝑇𝑟𝑢𝑒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𝑜𝑟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𝐹𝑎𝑙𝑠𝑒</m:t>
                    </m:r>
                  </m:oMath>
                </a14:m>
                <a:endParaRPr lang="en-US" sz="12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lang="en-US" sz="12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𝑎</m:t>
                        </m:r>
                        <m:r>
                          <a:rPr lang="en-US" sz="1200" i="1" ker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==</m:t>
                        </m:r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𝑏</m:t>
                        </m:r>
                      </m:e>
                    </m:d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||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(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==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𝑐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);→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𝑇𝑟𝑢𝑒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𝑜𝑟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𝐹𝑎𝑙𝑠𝑒</m:t>
                    </m:r>
                  </m:oMath>
                </a14:m>
                <a:endParaRPr lang="en-US" sz="12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lang="en-US" sz="12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𝑎</m:t>
                        </m:r>
                        <m:r>
                          <a:rPr lang="en-US" sz="1200" i="1" ker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==</m:t>
                        </m:r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𝑏</m:t>
                        </m:r>
                      </m:e>
                    </m:d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!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&amp;(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==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𝑐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);→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𝑇𝑟𝑢𝑒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𝑜𝑟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𝐹𝑎𝑙𝑠𝑒</m:t>
                    </m:r>
                  </m:oMath>
                </a14:m>
                <a:endParaRPr lang="en-US" sz="12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lang="en-US" sz="12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𝑎</m:t>
                        </m:r>
                        <m:r>
                          <a:rPr lang="en-US" sz="1200" i="1" ker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==</m:t>
                        </m:r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𝑏</m:t>
                        </m:r>
                      </m:e>
                    </m:d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!|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(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==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𝑐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);→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𝑇𝑟𝑢𝑒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𝑜𝑟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𝐹𝑎𝑙𝑠𝑒</m:t>
                    </m:r>
                  </m:oMath>
                </a14:m>
                <a:endParaRPr lang="en-US" sz="12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lang="en-US" sz="12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𝑖𝑠</m:t>
                    </m:r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_</m:t>
                    </m:r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𝑖𝑛</m:t>
                    </m:r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</m:t>
                    </m:r>
                  </m:oMath>
                </a14:m>
                <a:r>
                  <a:rPr lang="en-US" sz="1200" kern="0" dirty="0">
                    <a:solidFill>
                      <a:schemeClr val="tx1"/>
                    </a:solidFill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 kern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→</m:t>
                    </m:r>
                    <m:r>
                      <a:rPr lang="en-US" sz="1200" i="1" kern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1200" i="1" kern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𝑚𝑢𝑠𝑡</m:t>
                    </m:r>
                    <m:r>
                      <a:rPr lang="en-US" sz="1200" i="1" kern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𝑏𝑒</m:t>
                    </m:r>
                    <m:r>
                      <a:rPr lang="en-US" sz="1200" i="1" kern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</m:t>
                    </m:r>
                    <m:r>
                      <a:rPr lang="en-US" sz="1200" i="1" kern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𝑙𝑖𝑠𝑡</m:t>
                    </m:r>
                    <m:r>
                      <a:rPr lang="en-US" sz="1200" i="1" kern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.  </m:t>
                    </m:r>
                  </m:oMath>
                </a14:m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𝑎</m:t>
                      </m:r>
                      <m: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𝑎𝑛𝑑</m:t>
                      </m:r>
                      <m: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sSup>
                        <m:sSupPr>
                          <m:ctrlPr>
                            <a:rPr lang="en-US" sz="1200" i="1" kern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</m:ctrlPr>
                        </m:sSupPr>
                        <m:e>
                          <m:r>
                            <a:rPr lang="en-US" sz="1200" i="1" kern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sz="1200" i="1" kern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𝑠</m:t>
                      </m:r>
                      <m: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𝑒𝑙𝑒𝑚𝑒𝑛𝑡</m:t>
                      </m:r>
                      <m: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𝑠ℎ𝑜𝑢𝑙𝑑</m:t>
                      </m:r>
                      <m: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𝑏𝑒</m:t>
                      </m:r>
                      <m: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𝑠𝑖𝑚𝑖𝑙𝑎𝑟</m:t>
                      </m:r>
                      <m: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𝑑𝑎𝑡𝑎</m:t>
                      </m:r>
                      <m: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𝑡𝑦𝑝𝑒</m:t>
                      </m:r>
                    </m:oMath>
                  </m:oMathPara>
                </a14:m>
                <a:endParaRPr lang="en-US" sz="12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200" i="1" ker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→</m:t>
                      </m:r>
                      <m:r>
                        <a:rPr lang="en-US" sz="1200" i="1" ker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𝑇𝑟𝑢𝑒</m:t>
                      </m:r>
                      <m:r>
                        <a:rPr lang="en-US" sz="1200" i="1" ker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𝑜𝑟</m:t>
                      </m:r>
                      <m:r>
                        <a:rPr lang="en-US" sz="1200" i="1" ker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𝐹𝑎𝑙𝑠𝑒</m:t>
                      </m:r>
                    </m:oMath>
                  </m:oMathPara>
                </a14:m>
                <a:endParaRPr lang="en-US" sz="12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lang="en-US" sz="12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𝑖𝑠</m:t>
                    </m:r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_</m:t>
                    </m:r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𝑛𝑜𝑡</m:t>
                    </m:r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_</m:t>
                    </m:r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𝑖𝑛</m:t>
                    </m:r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</m:t>
                    </m:r>
                  </m:oMath>
                </a14:m>
                <a:r>
                  <a:rPr lang="en-US" sz="1200" kern="0" dirty="0">
                    <a:solidFill>
                      <a:schemeClr val="tx1"/>
                    </a:solidFill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𝑇𝑟𝑢𝑒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𝑜𝑟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𝐹𝑎𝑙𝑠𝑒</m:t>
                    </m:r>
                  </m:oMath>
                </a14:m>
                <a:r>
                  <a:rPr lang="en-US" sz="1200" kern="0" dirty="0">
                    <a:solidFill>
                      <a:schemeClr val="tx1"/>
                    </a:solidFill>
                    <a:cs typeface="Tahoma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CD71D7D-EE4A-8915-B725-AA598704FE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252" y="2253494"/>
                <a:ext cx="3588327" cy="24616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AF11B07E-B109-4275-2EED-0628990E52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570413"/>
                  </p:ext>
                </p:extLst>
              </p:nvPr>
            </p:nvGraphicFramePr>
            <p:xfrm>
              <a:off x="263235" y="3021821"/>
              <a:ext cx="5144385" cy="1607716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209965">
                      <a:extLst>
                        <a:ext uri="{9D8B030D-6E8A-4147-A177-3AD203B41FA5}">
                          <a16:colId xmlns:a16="http://schemas.microsoft.com/office/drawing/2014/main" val="3102739039"/>
                        </a:ext>
                      </a:extLst>
                    </a:gridCol>
                    <a:gridCol w="1390073">
                      <a:extLst>
                        <a:ext uri="{9D8B030D-6E8A-4147-A177-3AD203B41FA5}">
                          <a16:colId xmlns:a16="http://schemas.microsoft.com/office/drawing/2014/main" val="1086047541"/>
                        </a:ext>
                      </a:extLst>
                    </a:gridCol>
                    <a:gridCol w="2544347">
                      <a:extLst>
                        <a:ext uri="{9D8B030D-6E8A-4147-A177-3AD203B41FA5}">
                          <a16:colId xmlns:a16="http://schemas.microsoft.com/office/drawing/2014/main" val="668078890"/>
                        </a:ext>
                      </a:extLst>
                    </a:gridCol>
                  </a:tblGrid>
                  <a:tr h="1733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Expression</a:t>
                          </a:r>
                        </a:p>
                      </a:txBody>
                      <a:tcPr>
                        <a:solidFill>
                          <a:srgbClr val="A2D3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Notation</a:t>
                          </a:r>
                        </a:p>
                      </a:txBody>
                      <a:tcPr>
                        <a:solidFill>
                          <a:srgbClr val="A2D3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Examples</a:t>
                          </a:r>
                        </a:p>
                      </a:txBody>
                      <a:tcPr>
                        <a:solidFill>
                          <a:srgbClr val="A2D3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8217775"/>
                      </a:ext>
                    </a:extLst>
                  </a:tr>
                  <a:tr h="1733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Float to integer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𝑖𝑛𝑡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𝑖𝑛𝑡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2.32154</m:t>
                                    </m:r>
                                  </m:e>
                                </m:d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→2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8004106"/>
                      </a:ext>
                    </a:extLst>
                  </a:tr>
                  <a:tr h="1733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Integer to float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𝑓𝑙𝑜𝑎𝑡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𝑓𝑙𝑜𝑎𝑡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→2.0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9223778"/>
                      </a:ext>
                    </a:extLst>
                  </a:tr>
                  <a:tr h="1733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String cast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𝑠𝑡𝑟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𝑠𝑡𝑟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m:rPr>
                                    <m:nor/>
                                  </m:rPr>
                                  <a:rPr lang="en-US" sz="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800" b="0" i="0" smtClean="0">
                                    <a:solidFill>
                                      <a:srgbClr val="007635"/>
                                    </a:solidFill>
                                    <a:latin typeface="Cambria Math" panose="02040503050406030204" pitchFamily="18" charset="0"/>
                                  </a:rPr>
                                  <m:t>′2′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9067940"/>
                      </a:ext>
                    </a:extLst>
                  </a:tr>
                  <a:tr h="26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Round 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𝑟𝑜𝑢𝑛𝑑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𝑟𝑒𝑞𝑢𝑖𝑟𝑒𝑑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𝑑𝑒𝑐𝑖𝑚𝑎𝑙𝑠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𝑟𝑜𝑢𝑛𝑑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2.3265485,2</m:t>
                                    </m:r>
                                  </m:e>
                                </m:d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→2.33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5350507"/>
                      </a:ext>
                    </a:extLst>
                  </a:tr>
                  <a:tr h="244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Radian to degree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𝑟𝑎𝑑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𝑑𝑒𝑐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()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𝑟𝑎𝑑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𝑑𝑒𝑐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d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→180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2260003"/>
                      </a:ext>
                    </a:extLst>
                  </a:tr>
                  <a:tr h="244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Degree to radian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𝑑𝑒𝑐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𝑟𝑎𝑑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()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𝑑𝑒𝑐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𝑟𝑎𝑑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800" b="0" i="1" smtClean="0">
                                        <a:latin typeface="Cambria Math" panose="02040503050406030204" pitchFamily="18" charset="0"/>
                                      </a:rPr>
                                      <m:t>180</m:t>
                                    </m:r>
                                  </m:e>
                                </m:d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18550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AF11B07E-B109-4275-2EED-0628990E52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570413"/>
                  </p:ext>
                </p:extLst>
              </p:nvPr>
            </p:nvGraphicFramePr>
            <p:xfrm>
              <a:off x="263235" y="3021821"/>
              <a:ext cx="5144385" cy="1607716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209965">
                      <a:extLst>
                        <a:ext uri="{9D8B030D-6E8A-4147-A177-3AD203B41FA5}">
                          <a16:colId xmlns:a16="http://schemas.microsoft.com/office/drawing/2014/main" val="3102739039"/>
                        </a:ext>
                      </a:extLst>
                    </a:gridCol>
                    <a:gridCol w="1390073">
                      <a:extLst>
                        <a:ext uri="{9D8B030D-6E8A-4147-A177-3AD203B41FA5}">
                          <a16:colId xmlns:a16="http://schemas.microsoft.com/office/drawing/2014/main" val="1086047541"/>
                        </a:ext>
                      </a:extLst>
                    </a:gridCol>
                    <a:gridCol w="2544347">
                      <a:extLst>
                        <a:ext uri="{9D8B030D-6E8A-4147-A177-3AD203B41FA5}">
                          <a16:colId xmlns:a16="http://schemas.microsoft.com/office/drawing/2014/main" val="668078890"/>
                        </a:ext>
                      </a:extLst>
                    </a:gridCol>
                  </a:tblGrid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Expression</a:t>
                          </a:r>
                        </a:p>
                      </a:txBody>
                      <a:tcPr>
                        <a:solidFill>
                          <a:srgbClr val="A2D3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Notation</a:t>
                          </a:r>
                        </a:p>
                      </a:txBody>
                      <a:tcPr>
                        <a:solidFill>
                          <a:srgbClr val="A2D3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Examples</a:t>
                          </a:r>
                        </a:p>
                      </a:txBody>
                      <a:tcPr>
                        <a:solidFill>
                          <a:srgbClr val="A2D3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8217775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Float to integer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7719" t="-102857" r="-184649" b="-56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2392" t="-102857" r="-718" b="-56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8004106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Integer to float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7719" t="-197222" r="-184649" b="-447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2392" t="-197222" r="-718" b="-447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9223778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String cast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7719" t="-305714" r="-184649" b="-3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2392" t="-305714" r="-718" b="-36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9067940"/>
                      </a:ext>
                    </a:extLst>
                  </a:tr>
                  <a:tr h="26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Round off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7719" t="-330233" r="-184649" b="-1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2392" t="-330233" r="-718" b="-1930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5350507"/>
                      </a:ext>
                    </a:extLst>
                  </a:tr>
                  <a:tr h="244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Radian to degree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7719" t="-451220" r="-184649" b="-1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2392" t="-451220" r="-718" b="-10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2260003"/>
                      </a:ext>
                    </a:extLst>
                  </a:tr>
                  <a:tr h="244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Degree to radian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7719" t="-565000" r="-184649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2392" t="-565000" r="-718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18550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7599E44-C235-2328-E43A-3CAB20A3511F}"/>
              </a:ext>
            </a:extLst>
          </p:cNvPr>
          <p:cNvSpPr txBox="1"/>
          <p:nvPr/>
        </p:nvSpPr>
        <p:spPr>
          <a:xfrm>
            <a:off x="151244" y="2701722"/>
            <a:ext cx="27662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uLnTx/>
                <a:uFillTx/>
              </a:rPr>
              <a:t>Data Conversion Operators: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45100E-69F6-5374-98A6-82F3015AA55D}"/>
              </a:ext>
            </a:extLst>
          </p:cNvPr>
          <p:cNvSpPr/>
          <p:nvPr/>
        </p:nvSpPr>
        <p:spPr>
          <a:xfrm>
            <a:off x="8396234" y="119649"/>
            <a:ext cx="697345" cy="166254"/>
          </a:xfrm>
          <a:prstGeom prst="rect">
            <a:avLst/>
          </a:prstGeom>
          <a:solidFill>
            <a:srgbClr val="A2D3D6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Examples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BEC183-1A10-994C-DBB7-83B9F1FB7F6C}"/>
              </a:ext>
            </a:extLst>
          </p:cNvPr>
          <p:cNvSpPr/>
          <p:nvPr/>
        </p:nvSpPr>
        <p:spPr>
          <a:xfrm>
            <a:off x="8396233" y="2251582"/>
            <a:ext cx="697345" cy="166254"/>
          </a:xfrm>
          <a:prstGeom prst="rect">
            <a:avLst/>
          </a:prstGeom>
          <a:solidFill>
            <a:srgbClr val="A2D3D6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8F9716-B45B-EF3C-7D4C-2511B3419A28}"/>
              </a:ext>
            </a:extLst>
          </p:cNvPr>
          <p:cNvSpPr txBox="1"/>
          <p:nvPr/>
        </p:nvSpPr>
        <p:spPr>
          <a:xfrm>
            <a:off x="69272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611377-3D91-BD6B-ED67-E36F88F6A60C}"/>
              </a:ext>
            </a:extLst>
          </p:cNvPr>
          <p:cNvSpPr txBox="1"/>
          <p:nvPr/>
        </p:nvSpPr>
        <p:spPr>
          <a:xfrm>
            <a:off x="5985164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India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154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18E3D-4E2A-DBFF-AB0B-7F550F776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6E057B-2573-9658-B0A6-400D2E1A39B3}"/>
              </a:ext>
            </a:extLst>
          </p:cNvPr>
          <p:cNvSpPr/>
          <p:nvPr/>
        </p:nvSpPr>
        <p:spPr>
          <a:xfrm>
            <a:off x="0" y="4758267"/>
            <a:ext cx="9144000" cy="38523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9A00DE-E4A7-34F9-1515-FF5BC5B1FAEB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5F77A7-232A-8A95-4F2D-80DED369CAF9}"/>
              </a:ext>
            </a:extLst>
          </p:cNvPr>
          <p:cNvSpPr/>
          <p:nvPr/>
        </p:nvSpPr>
        <p:spPr>
          <a:xfrm>
            <a:off x="375766" y="163879"/>
            <a:ext cx="38250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“if” Operator</a:t>
            </a:r>
            <a:r>
              <a:rPr lang="en-US" sz="10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(with branch operators)</a:t>
            </a:r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endParaRPr lang="en-US" sz="2400" b="1" cap="none" spc="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589854E-3229-BAEA-ABAA-5E9B62F9EBDD}"/>
                  </a:ext>
                </a:extLst>
              </p:cNvPr>
              <p:cNvSpPr/>
              <p:nvPr/>
            </p:nvSpPr>
            <p:spPr>
              <a:xfrm>
                <a:off x="494146" y="725941"/>
                <a:ext cx="3588327" cy="3691618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sz="1200" b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ea typeface="+mn-ea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𝑖𝑓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𝑎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==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𝑏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:</m:t>
                    </m:r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𝑝𝑢𝑏𝑙𝑖𝑠ℎ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 </m:t>
                      </m:r>
                      <m:d>
                        <m:dPr>
                          <m:ctrlPr>
                            <a:rPr kumimoji="0" lang="en-US" sz="1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635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US" sz="1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635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  <m:t>"both are same"</m:t>
                          </m:r>
                        </m:e>
                      </m:d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; </m:t>
                      </m:r>
                    </m:oMath>
                  </m:oMathPara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𝑖𝑒𝑛𝑑</m:t>
                      </m:r>
                    </m:oMath>
                  </m:oMathPara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       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𝑖𝑓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𝑎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!=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𝑏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:  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kumimoji="0" lang="en-US" sz="1200" b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+mn-ea"/>
                    <a:cs typeface="Tahoma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𝑝𝑢𝑏𝑙𝑖𝑠ℎ</m:t>
                    </m:r>
                    <m:d>
                      <m:dPr>
                        <m:ctrlPr>
                          <a:rPr kumimoji="0" lang="en-US" sz="12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0" lang="en-US" sz="12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"both are not same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"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;     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i="1" ker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𝑖𝑒𝑛𝑑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   </m:t>
                      </m:r>
                    </m:oMath>
                  </m:oMathPara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       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𝑖𝑓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𝑎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_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𝑖𝑛</m:t>
                    </m:r>
                  </m:oMath>
                </a14:m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/>
                    <a:ea typeface="+mn-ea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𝐴</m:t>
                    </m:r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: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𝑝𝑢𝑏𝑙𝑖𝑠ℎ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1200" i="0" kern="0" smtClean="0">
                              <a:solidFill>
                                <a:srgbClr val="007635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200" i="0" kern="0" smtClean="0">
                              <a:solidFill>
                                <a:srgbClr val="007635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"</m:t>
                          </m:r>
                          <m:r>
                            <m:rPr>
                              <m:nor/>
                            </m:rPr>
                            <a:rPr lang="en-US" sz="1200" b="0" i="0" kern="0" smtClean="0">
                              <a:solidFill>
                                <a:srgbClr val="007635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yes..! it is present."</m:t>
                          </m:r>
                        </m:e>
                      </m:d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;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</m:oMath>
                  </m:oMathPara>
                </a14:m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r>
                  <a:rPr lang="en-US" sz="1200" kern="0" dirty="0">
                    <a:solidFill>
                      <a:schemeClr val="tx2">
                        <a:lumMod val="50000"/>
                      </a:schemeClr>
                    </a:solidFill>
                    <a:cs typeface="Tahoma" pitchFamily="34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𝑖𝑒𝑛𝑑</m:t>
                    </m:r>
                  </m:oMath>
                </a14:m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</m:t>
                    </m:r>
                    <m:r>
                      <a:rPr lang="en-US" sz="1200" i="1" kern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𝑖𝑓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𝑖𝑠</m:t>
                    </m:r>
                    <m:r>
                      <a:rPr lang="en-US" sz="1200" i="1" kern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_</m:t>
                    </m:r>
                    <m:r>
                      <a:rPr lang="en-US" sz="1200" b="0" i="1" kern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𝑛𝑜𝑡</m:t>
                    </m:r>
                    <m:r>
                      <a:rPr lang="en-US" sz="1200" b="0" i="1" kern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_</m:t>
                    </m:r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𝑖𝑛</m:t>
                    </m:r>
                  </m:oMath>
                </a14:m>
                <a:r>
                  <a:rPr lang="en-US" sz="1200" kern="0" dirty="0">
                    <a:solidFill>
                      <a:srgbClr val="C00000"/>
                    </a:solidFill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 kern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1200" i="1" kern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:</m:t>
                    </m:r>
                  </m:oMath>
                </a14:m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𝑝𝑢𝑏𝑙𝑖𝑠ℎ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1200" i="0" kern="0" smtClean="0">
                              <a:solidFill>
                                <a:srgbClr val="007635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200" i="0" kern="0" smtClean="0">
                              <a:solidFill>
                                <a:srgbClr val="007635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"</m:t>
                          </m:r>
                          <m:r>
                            <m:rPr>
                              <m:nor/>
                            </m:rPr>
                            <a:rPr lang="en-US" sz="1200" b="0" i="0" kern="0" smtClean="0">
                              <a:solidFill>
                                <a:srgbClr val="007635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no</m:t>
                          </m:r>
                          <m:r>
                            <m:rPr>
                              <m:nor/>
                            </m:rPr>
                            <a:rPr lang="en-US" sz="1200" i="0" kern="0" smtClean="0">
                              <a:solidFill>
                                <a:srgbClr val="007635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..! it is</m:t>
                          </m:r>
                          <m:r>
                            <m:rPr>
                              <m:nor/>
                            </m:rPr>
                            <a:rPr lang="en-US" sz="1200" b="0" i="0" kern="0" smtClean="0">
                              <a:solidFill>
                                <a:srgbClr val="007635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 not</m:t>
                          </m:r>
                          <m:r>
                            <m:rPr>
                              <m:nor/>
                            </m:rPr>
                            <a:rPr lang="en-US" sz="1200" i="0" kern="0" smtClean="0">
                              <a:solidFill>
                                <a:srgbClr val="007635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 present."</m:t>
                          </m:r>
                        </m:e>
                      </m:d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; </m:t>
                      </m:r>
                    </m:oMath>
                  </m:oMathPara>
                </a14:m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b="0" i="1" kern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             </m:t>
                      </m:r>
                      <m:r>
                        <a:rPr lang="en-US" sz="1200" i="1" ker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𝑖𝑒𝑛𝑑</m:t>
                      </m:r>
                    </m:oMath>
                  </m:oMathPara>
                </a14:m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endParaRPr lang="en-US" sz="1200" i="1" kern="0" dirty="0">
                  <a:solidFill>
                    <a:srgbClr val="C00000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589854E-3229-BAEA-ABAA-5E9B62F9EB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46" y="725941"/>
                <a:ext cx="3588327" cy="36916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E8207FD4-FAC9-08FB-AE51-D5D2A33B0DC0}"/>
              </a:ext>
            </a:extLst>
          </p:cNvPr>
          <p:cNvSpPr/>
          <p:nvPr/>
        </p:nvSpPr>
        <p:spPr>
          <a:xfrm>
            <a:off x="4853380" y="185284"/>
            <a:ext cx="391485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“if” Operator </a:t>
            </a:r>
            <a:r>
              <a:rPr lang="en-US" sz="10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(with branch operators)</a:t>
            </a:r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endParaRPr lang="en-US" sz="2400" b="1" cap="none" spc="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93D98F-7BB8-782F-5E84-BA9EF86369F1}"/>
                  </a:ext>
                </a:extLst>
              </p:cNvPr>
              <p:cNvSpPr/>
              <p:nvPr/>
            </p:nvSpPr>
            <p:spPr>
              <a:xfrm>
                <a:off x="5061529" y="725941"/>
                <a:ext cx="3588327" cy="3691618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sz="1200" b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ea typeface="+mn-ea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𝑖𝑓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𝑎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==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𝑏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:</m:t>
                    </m:r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𝑝𝑢𝑏𝑙𝑖𝑠ℎ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 </m:t>
                      </m:r>
                      <m:d>
                        <m:dPr>
                          <m:ctrlPr>
                            <a:rPr kumimoji="0" lang="en-US" sz="1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635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US" sz="1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635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  <m:t>"both are same"</m:t>
                          </m:r>
                        </m:e>
                      </m:d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; </m:t>
                      </m:r>
                    </m:oMath>
                  </m:oMathPara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𝑒𝑙𝑠𝑒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:</m:t>
                      </m:r>
                    </m:oMath>
                  </m:oMathPara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kumimoji="0" lang="en-US" sz="1200" b="0" i="1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Tahoma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𝑝𝑢𝑏𝑙𝑖𝑠ℎ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"both are</m:t>
                        </m:r>
                        <m:r>
                          <m:rPr>
                            <m:nor/>
                          </m:rPr>
                          <a:rPr lang="en-US" sz="1200" b="0" i="0" kern="0" smtClea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 not</m:t>
                        </m:r>
                        <m:r>
                          <m:rPr>
                            <m:nor/>
                          </m:r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 same"</m:t>
                        </m:r>
                      </m:e>
                    </m:d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 </m:t>
                    </m:r>
                  </m:oMath>
                </a14:m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accent3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𝑖𝑒𝑛𝑑</m:t>
                      </m:r>
                    </m:oMath>
                  </m:oMathPara>
                </a14:m>
                <a:endParaRPr kumimoji="0" lang="en-US" sz="1200" b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       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𝑖𝑓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𝑎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==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𝑏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:  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kumimoji="0" lang="en-US" sz="1200" b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+mn-ea"/>
                    <a:cs typeface="Tahoma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𝑝𝑢𝑏𝑙𝑖𝑠ℎ</m:t>
                    </m:r>
                    <m:d>
                      <m:dPr>
                        <m:ctrlPr>
                          <a:rPr kumimoji="0" lang="en-US" sz="12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0" lang="en-US" sz="12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"a and b are same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"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;     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i="1" ker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𝑒𝑙𝑠𝑒</m:t>
                      </m:r>
                      <m:r>
                        <a:rPr lang="en-US" sz="1200" b="0" i="1" kern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𝑖𝑓</m:t>
                      </m:r>
                      <m:r>
                        <a:rPr lang="en-US" sz="1200" b="0" i="1" kern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𝑎</m:t>
                      </m:r>
                      <m:r>
                        <a:rPr lang="en-US" sz="1200" b="0" i="1" kern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==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𝑐</m:t>
                      </m:r>
                      <m:r>
                        <a:rPr lang="en-US" sz="1200" i="1" ker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:</m:t>
                      </m:r>
                    </m:oMath>
                  </m:oMathPara>
                </a14:m>
                <a:endParaRPr lang="en-US" sz="1200" i="1" kern="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  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𝑝𝑢𝑏𝑙𝑖𝑠ℎ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1200" i="0" kern="0">
                              <a:solidFill>
                                <a:srgbClr val="007635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200" i="0" kern="0">
                              <a:solidFill>
                                <a:srgbClr val="007635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"a and </m:t>
                          </m:r>
                          <m:r>
                            <m:rPr>
                              <m:nor/>
                            </m:rPr>
                            <a:rPr lang="en-US" sz="1200" b="0" i="0" kern="0" smtClean="0">
                              <a:solidFill>
                                <a:srgbClr val="007635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c </m:t>
                          </m:r>
                          <m:r>
                            <m:rPr>
                              <m:nor/>
                            </m:rPr>
                            <a:rPr lang="en-US" sz="1200" i="0" kern="0">
                              <a:solidFill>
                                <a:srgbClr val="007635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are same"</m:t>
                          </m:r>
                        </m:e>
                      </m:d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; </m:t>
                      </m:r>
                    </m:oMath>
                  </m:oMathPara>
                </a14:m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i="1" ker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𝑒𝑙𝑠𝑒</m:t>
                      </m:r>
                      <m:r>
                        <a:rPr lang="en-US" sz="1200" i="1" ker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:</m:t>
                      </m:r>
                    </m:oMath>
                  </m:oMathPara>
                </a14:m>
                <a:endParaRPr lang="en-US" sz="1200" i="1" kern="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𝑝𝑢𝑏𝑙𝑖𝑠ℎ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1200" b="0" i="0" kern="0" smtClea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No matching found..!"</m:t>
                        </m:r>
                      </m:e>
                    </m:d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 </m:t>
                    </m:r>
                  </m:oMath>
                </a14:m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i="1" kern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𝑖𝑒𝑛𝑑</m:t>
                      </m:r>
                    </m:oMath>
                  </m:oMathPara>
                </a14:m>
                <a:endParaRPr lang="en-US" sz="1200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rgbClr val="C00000"/>
                    </a:solidFill>
                    <a:latin typeface="Cambria Math" panose="02040503050406030204" pitchFamily="18" charset="0"/>
                    <a:cs typeface="Tahoma" pitchFamily="34" charset="0"/>
                  </a:rPr>
                  <a:t>**If  operator  should be evaluated with all binary operators. </a:t>
                </a:r>
              </a:p>
              <a:p>
                <a:pPr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rgbClr val="C00000"/>
                    </a:solidFill>
                    <a:latin typeface="Cambria Math" panose="02040503050406030204" pitchFamily="18" charset="0"/>
                    <a:cs typeface="Tahoma" pitchFamily="34" charset="0"/>
                  </a:rPr>
                  <a:t>** elseif should be extended to the horizon limit</a:t>
                </a: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93D98F-7BB8-782F-5E84-BA9EF8636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529" y="725941"/>
                <a:ext cx="3588327" cy="36916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2436272E-99BD-A6F9-8865-54F3F0287401}"/>
                  </a:ext>
                </a:extLst>
              </p:cNvPr>
              <p:cNvSpPr/>
              <p:nvPr/>
            </p:nvSpPr>
            <p:spPr>
              <a:xfrm>
                <a:off x="32328" y="4498090"/>
                <a:ext cx="3500581" cy="238772"/>
              </a:xfrm>
              <a:prstGeom prst="roundRect">
                <a:avLst/>
              </a:prstGeom>
              <a:solidFill>
                <a:srgbClr val="92D05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/>
                    <a:ea typeface="+mn-ea"/>
                    <a:cs typeface="Tahoma" pitchFamily="34" charset="0"/>
                  </a:rPr>
                  <a:t>Similarly, “</a:t>
                </a:r>
                <a14:m>
                  <m:oMath xmlns:m="http://schemas.openxmlformats.org/officeDocument/2006/math">
                    <m:r>
                      <a:rPr kumimoji="0" lang="en-US" sz="1200" b="1" i="1" u="none" strike="noStrike" kern="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𝒊𝒇</m:t>
                    </m:r>
                    <m:r>
                      <a:rPr kumimoji="0" lang="en-US" sz="1200" b="1" i="1" u="none" strike="noStrike" kern="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1" i="1" u="none" strike="noStrike" kern="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𝒏𝒐𝒕</m:t>
                    </m:r>
                  </m:oMath>
                </a14:m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/>
                    <a:ea typeface="+mn-ea"/>
                    <a:cs typeface="Tahoma" pitchFamily="34" charset="0"/>
                  </a:rPr>
                  <a:t>” also be developed..!</a:t>
                </a: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2436272E-99BD-A6F9-8865-54F3F02874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8" y="4498090"/>
                <a:ext cx="3500581" cy="23877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4A72729-4A8C-60D7-6A96-68F8668D3032}"/>
              </a:ext>
            </a:extLst>
          </p:cNvPr>
          <p:cNvSpPr txBox="1"/>
          <p:nvPr/>
        </p:nvSpPr>
        <p:spPr>
          <a:xfrm>
            <a:off x="69272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C2A242-7BA3-3F80-6A16-B1EFA73BA20E}"/>
              </a:ext>
            </a:extLst>
          </p:cNvPr>
          <p:cNvSpPr txBox="1"/>
          <p:nvPr/>
        </p:nvSpPr>
        <p:spPr>
          <a:xfrm>
            <a:off x="5985164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India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7222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88876-B063-27D4-C9F6-EB9CD40FF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E97CB1-46E5-9ABF-47C2-21A969B859F8}"/>
              </a:ext>
            </a:extLst>
          </p:cNvPr>
          <p:cNvSpPr/>
          <p:nvPr/>
        </p:nvSpPr>
        <p:spPr>
          <a:xfrm>
            <a:off x="0" y="4758267"/>
            <a:ext cx="9144000" cy="38523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9657B0-A7BE-4129-4E5E-D99786C3E0E0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FB3924-1056-6FE8-B62E-8BFBF34A5BFF}"/>
              </a:ext>
            </a:extLst>
          </p:cNvPr>
          <p:cNvSpPr/>
          <p:nvPr/>
        </p:nvSpPr>
        <p:spPr>
          <a:xfrm>
            <a:off x="326140" y="106292"/>
            <a:ext cx="388760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“if” Operator </a:t>
            </a:r>
            <a:r>
              <a:rPr lang="en-US" sz="10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(with logical operators)</a:t>
            </a:r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endParaRPr lang="en-US" sz="2400" b="1" cap="none" spc="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74DBCA0-1B35-75C0-0335-6E1A1B69F4EE}"/>
                  </a:ext>
                </a:extLst>
              </p:cNvPr>
              <p:cNvSpPr/>
              <p:nvPr/>
            </p:nvSpPr>
            <p:spPr>
              <a:xfrm>
                <a:off x="521856" y="646949"/>
                <a:ext cx="3588327" cy="3691618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sz="1200" b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ea typeface="+mn-ea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𝑖𝑓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𝑎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==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𝑏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&amp;&amp;(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𝑎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==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𝑐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):</m:t>
                    </m:r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𝑝𝑢𝑏𝑙𝑖𝑠ℎ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 </m:t>
                      </m:r>
                      <m:d>
                        <m:dPr>
                          <m:ctrlPr>
                            <a:rPr kumimoji="0" lang="en-US" sz="1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635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US" sz="1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635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  <m:t>"both are same"</m:t>
                          </m:r>
                        </m:e>
                      </m:d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; </m:t>
                      </m:r>
                    </m:oMath>
                  </m:oMathPara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𝑒𝑙𝑠𝑒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:</m:t>
                      </m:r>
                    </m:oMath>
                  </m:oMathPara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kumimoji="0" lang="en-US" sz="1200" b="0" i="1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Tahoma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𝑝𝑢𝑏𝑙𝑖𝑠ℎ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"both are</m:t>
                        </m:r>
                        <m:r>
                          <m:rPr>
                            <m:nor/>
                          </m:rPr>
                          <a:rPr lang="en-US" sz="1200" b="0" i="0" kern="0" smtClea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 not</m:t>
                        </m:r>
                        <m:r>
                          <m:rPr>
                            <m:nor/>
                          </m:r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 same"</m:t>
                        </m:r>
                      </m:e>
                    </m:d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 </m:t>
                    </m:r>
                  </m:oMath>
                </a14:m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accent3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𝑖𝑒𝑛𝑑</m:t>
                      </m:r>
                    </m:oMath>
                  </m:oMathPara>
                </a14:m>
                <a:endParaRPr kumimoji="0" lang="en-US" sz="1200" b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       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𝑖𝑓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𝑎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==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𝑏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&amp;&amp;(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𝑎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==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𝑐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):  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kumimoji="0" lang="en-US" sz="1200" b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+mn-ea"/>
                    <a:cs typeface="Tahoma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𝑝𝑢𝑏𝑙𝑖𝑠ℎ</m:t>
                    </m:r>
                    <m:d>
                      <m:dPr>
                        <m:ctrlPr>
                          <a:rPr kumimoji="0" lang="en-US" sz="12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0" lang="en-US" sz="12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"a ,b and c are same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"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;     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i="1" ker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𝑒𝑙𝑠𝑒</m:t>
                      </m:r>
                      <m:r>
                        <a:rPr lang="en-US" sz="1200" b="0" i="1" kern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𝑖𝑓</m:t>
                      </m:r>
                      <m:r>
                        <a:rPr lang="en-US" sz="1200" b="0" i="1" kern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12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</m:ctrlPr>
                        </m:dPr>
                        <m:e>
                          <m:r>
                            <a:rPr lang="en-US" sz="12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𝑎</m:t>
                          </m:r>
                          <m:r>
                            <a:rPr lang="en-US" sz="1200" b="0" i="1" kern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==</m:t>
                          </m:r>
                          <m:r>
                            <a:rPr lang="en-US" sz="12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𝑐</m:t>
                          </m:r>
                          <m:r>
                            <a:rPr lang="en-US" sz="12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||(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𝑎</m:t>
                      </m:r>
                      <m:r>
                        <a:rPr lang="en-US" sz="1200" b="0" i="1" kern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==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𝑑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):</m:t>
                      </m:r>
                    </m:oMath>
                  </m:oMathPara>
                </a14:m>
                <a:endParaRPr lang="en-US" sz="1200" i="1" kern="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  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𝑝𝑢𝑏𝑙𝑖𝑠ℎ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1200" i="0" kern="0">
                              <a:solidFill>
                                <a:srgbClr val="007635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200" i="0" kern="0">
                              <a:solidFill>
                                <a:srgbClr val="007635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"a </m:t>
                          </m:r>
                          <m:r>
                            <m:rPr>
                              <m:nor/>
                            </m:rPr>
                            <a:rPr lang="en-US" sz="1200" b="0" i="0" kern="0" smtClean="0">
                              <a:solidFill>
                                <a:srgbClr val="007635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is equal to c or d</m:t>
                          </m:r>
                          <m:r>
                            <m:rPr>
                              <m:nor/>
                            </m:rPr>
                            <a:rPr lang="en-US" sz="1200" i="0" kern="0">
                              <a:solidFill>
                                <a:srgbClr val="007635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"</m:t>
                          </m:r>
                        </m:e>
                      </m:d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; </m:t>
                      </m:r>
                    </m:oMath>
                  </m:oMathPara>
                </a14:m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i="1" ker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𝑒𝑙𝑠𝑒</m:t>
                      </m:r>
                      <m:r>
                        <a:rPr lang="en-US" sz="1200" i="1" ker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:</m:t>
                      </m:r>
                    </m:oMath>
                  </m:oMathPara>
                </a14:m>
                <a:endParaRPr lang="en-US" sz="1200" i="1" kern="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𝑝𝑢𝑏𝑙𝑖𝑠ℎ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1200" b="0" i="0" kern="0" smtClea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No condition satisfied"</m:t>
                        </m:r>
                      </m:e>
                    </m:d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 </m:t>
                    </m:r>
                  </m:oMath>
                </a14:m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i="1" kern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𝑖𝑒𝑛𝑑</m:t>
                      </m:r>
                    </m:oMath>
                  </m:oMathPara>
                </a14:m>
                <a:endParaRPr lang="en-US" sz="1200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rgbClr val="C00000"/>
                    </a:solidFill>
                    <a:latin typeface="Cambria Math" panose="02040503050406030204" pitchFamily="18" charset="0"/>
                    <a:cs typeface="Tahoma" pitchFamily="34" charset="0"/>
                  </a:rPr>
                  <a:t>**If  operator  should be evaluated with all logical operators. </a:t>
                </a: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74DBCA0-1B35-75C0-0335-6E1A1B69F4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56" y="646949"/>
                <a:ext cx="3588327" cy="36916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1BB09445-568E-2EEB-1169-F18AA4DA53A2}"/>
              </a:ext>
            </a:extLst>
          </p:cNvPr>
          <p:cNvSpPr/>
          <p:nvPr/>
        </p:nvSpPr>
        <p:spPr>
          <a:xfrm>
            <a:off x="4900507" y="152474"/>
            <a:ext cx="365196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“if” Operator </a:t>
            </a:r>
            <a:r>
              <a:rPr lang="en-US" sz="10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(with DC operators)</a:t>
            </a:r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endParaRPr lang="en-US" sz="2400" b="1" cap="none" spc="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5C0936A-CB5D-3314-440F-2E933C6B0A8C}"/>
                  </a:ext>
                </a:extLst>
              </p:cNvPr>
              <p:cNvSpPr/>
              <p:nvPr/>
            </p:nvSpPr>
            <p:spPr>
              <a:xfrm>
                <a:off x="4978402" y="646949"/>
                <a:ext cx="3588327" cy="3691618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sz="1200" b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ea typeface="+mn-ea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𝑖𝑓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𝑎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==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𝑏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&amp;&amp;(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𝑎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==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𝑐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):</m:t>
                    </m:r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𝑝𝑢𝑏𝑙𝑖𝑠ℎ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 </m:t>
                      </m:r>
                      <m:d>
                        <m:dPr>
                          <m:ctrlPr>
                            <a:rPr kumimoji="0" lang="en-US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</m:ctrlPr>
                        </m:dPr>
                        <m:e>
                          <m:r>
                            <a:rPr kumimoji="0" lang="en-US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  <m:t>𝑠𝑡𝑟</m:t>
                          </m:r>
                          <m:d>
                            <m:dPr>
                              <m:ctrlPr>
                                <a:rPr kumimoji="0" lang="en-US" sz="1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Tahoma" pitchFamily="34" charset="0"/>
                                </a:rPr>
                              </m:ctrlPr>
                            </m:dPr>
                            <m:e>
                              <m:r>
                                <a:rPr kumimoji="0" lang="en-US" sz="1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Tahoma" pitchFamily="34" charset="0"/>
                                </a:rPr>
                                <m:t>𝑎</m:t>
                              </m:r>
                            </m:e>
                          </m:d>
                          <m:r>
                            <a:rPr kumimoji="0" lang="en-US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  <m:t>,</m:t>
                          </m:r>
                          <m:r>
                            <a:rPr kumimoji="0" lang="en-US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  <m:t>𝑠𝑡𝑟</m:t>
                          </m:r>
                          <m:r>
                            <a:rPr kumimoji="0" lang="en-US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  <m:t>(</m:t>
                          </m:r>
                          <m:r>
                            <a:rPr kumimoji="0" lang="en-US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  <m:t>𝑑</m:t>
                          </m:r>
                          <m:r>
                            <a:rPr kumimoji="0" lang="en-US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  <m:t>)</m:t>
                          </m:r>
                        </m:e>
                      </m:d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; </m:t>
                      </m:r>
                    </m:oMath>
                  </m:oMathPara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𝑒𝑙𝑠𝑒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:</m:t>
                      </m:r>
                    </m:oMath>
                  </m:oMathPara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kumimoji="0" lang="en-US" sz="1200" b="0" i="1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Tahoma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𝑝𝑢𝑏𝑙𝑖𝑠ℎ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𝑖𝑛𝑡</m:t>
                        </m:r>
                        <m: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(2.3021)</m:t>
                        </m:r>
                      </m:e>
                    </m:d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 </m:t>
                    </m:r>
                  </m:oMath>
                </a14:m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accent3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𝑖𝑒𝑛𝑑</m:t>
                      </m:r>
                    </m:oMath>
                  </m:oMathPara>
                </a14:m>
                <a:endParaRPr kumimoji="0" lang="en-US" sz="1200" b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       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𝑖𝑓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𝑎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==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𝑏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&amp;&amp;(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𝑎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==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𝑐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):  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kumimoji="0" lang="en-US" sz="1200" b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+mn-ea"/>
                    <a:cs typeface="Tahoma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𝑝𝑢𝑏𝑙𝑖𝑠ℎ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(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𝑟𝑎𝑑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2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𝑑𝑒𝑐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(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𝜋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));     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i="1" ker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𝑒𝑙𝑠𝑒</m:t>
                      </m:r>
                      <m:r>
                        <a:rPr lang="en-US" sz="1200" b="0" i="1" kern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𝑖𝑓</m:t>
                      </m:r>
                      <m:r>
                        <a:rPr lang="en-US" sz="1200" b="0" i="1" kern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12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</m:ctrlPr>
                        </m:dPr>
                        <m:e>
                          <m:r>
                            <a:rPr lang="en-US" sz="12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𝑎</m:t>
                          </m:r>
                          <m:r>
                            <a:rPr lang="en-US" sz="1200" b="0" i="1" kern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==</m:t>
                          </m:r>
                          <m:r>
                            <a:rPr lang="en-US" sz="12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𝑐</m:t>
                          </m:r>
                          <m:r>
                            <a:rPr lang="en-US" sz="12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ahoma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||(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𝑎</m:t>
                      </m:r>
                      <m:r>
                        <a:rPr lang="en-US" sz="1200" b="0" i="1" kern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==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𝑑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):</m:t>
                      </m:r>
                    </m:oMath>
                  </m:oMathPara>
                </a14:m>
                <a:endParaRPr lang="en-US" sz="1200" i="1" kern="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1200" i="1" kern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  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𝑝𝑢𝑏𝑙𝑖𝑠ℎ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(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𝑑𝑒𝑐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2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𝑟𝑎𝑑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(180)); </m:t>
                      </m:r>
                    </m:oMath>
                  </m:oMathPara>
                </a14:m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i="1" ker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𝑒𝑙𝑠𝑒</m:t>
                      </m:r>
                      <m:r>
                        <a:rPr lang="en-US" sz="1200" i="1" ker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:</m:t>
                      </m:r>
                    </m:oMath>
                  </m:oMathPara>
                </a14:m>
                <a:endParaRPr lang="en-US" sz="1200" i="1" kern="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𝑝𝑢𝑏𝑙𝑖𝑠ℎ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(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𝑓𝑙𝑜𝑎𝑡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(1)); </m:t>
                    </m:r>
                  </m:oMath>
                </a14:m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i="1" kern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𝑖𝑒𝑛𝑑</m:t>
                      </m:r>
                    </m:oMath>
                  </m:oMathPara>
                </a14:m>
                <a:endParaRPr lang="en-US" sz="1200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rgbClr val="C00000"/>
                    </a:solidFill>
                    <a:latin typeface="Cambria Math" panose="02040503050406030204" pitchFamily="18" charset="0"/>
                    <a:cs typeface="Tahoma" pitchFamily="34" charset="0"/>
                  </a:rPr>
                  <a:t>**If  operator  should be evaluated with all DC operators. </a:t>
                </a: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5C0936A-CB5D-3314-440F-2E933C6B0A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402" y="646949"/>
                <a:ext cx="3588327" cy="36916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E0551D2-4341-3D6C-E571-B2757B7972B2}"/>
              </a:ext>
            </a:extLst>
          </p:cNvPr>
          <p:cNvSpPr txBox="1"/>
          <p:nvPr/>
        </p:nvSpPr>
        <p:spPr>
          <a:xfrm>
            <a:off x="69272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A44017-1076-924D-8906-55151D0C90A3}"/>
              </a:ext>
            </a:extLst>
          </p:cNvPr>
          <p:cNvSpPr txBox="1"/>
          <p:nvPr/>
        </p:nvSpPr>
        <p:spPr>
          <a:xfrm>
            <a:off x="5985164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India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7272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F7E27-6F47-2B49-E78E-BE1BFBA98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13497A-E2F9-283A-10E6-9D589AB19746}"/>
              </a:ext>
            </a:extLst>
          </p:cNvPr>
          <p:cNvSpPr/>
          <p:nvPr/>
        </p:nvSpPr>
        <p:spPr>
          <a:xfrm>
            <a:off x="0" y="4758267"/>
            <a:ext cx="9144000" cy="38523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E27046-F2C0-4069-F968-A0A5D4C0054B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0DBAF1-0162-8CA1-6D60-375E28B5E55C}"/>
              </a:ext>
            </a:extLst>
          </p:cNvPr>
          <p:cNvSpPr/>
          <p:nvPr/>
        </p:nvSpPr>
        <p:spPr>
          <a:xfrm>
            <a:off x="355871" y="185283"/>
            <a:ext cx="251222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“for” Operator:</a:t>
            </a:r>
            <a:endParaRPr lang="en-US" sz="2400" b="1" cap="none" spc="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9E2592-E072-A0AA-86B3-548539E27410}"/>
              </a:ext>
            </a:extLst>
          </p:cNvPr>
          <p:cNvSpPr/>
          <p:nvPr/>
        </p:nvSpPr>
        <p:spPr>
          <a:xfrm>
            <a:off x="4942758" y="185284"/>
            <a:ext cx="373371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“for” Operator </a:t>
            </a:r>
            <a:r>
              <a:rPr lang="en-US" sz="10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(with branches+)</a:t>
            </a:r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endParaRPr lang="en-US" sz="2400" b="1" cap="none" spc="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97AA26A-D984-544B-7ADB-31987D77D944}"/>
                  </a:ext>
                </a:extLst>
              </p:cNvPr>
              <p:cNvSpPr/>
              <p:nvPr/>
            </p:nvSpPr>
            <p:spPr>
              <a:xfrm>
                <a:off x="521856" y="646949"/>
                <a:ext cx="3588327" cy="3691618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sz="1200" b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ea typeface="+mn-ea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𝑓𝑜𝑟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=[1:10]:</m:t>
                    </m:r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𝑝𝑢𝑏𝑙𝑖𝑠ℎ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 </m:t>
                      </m:r>
                      <m:d>
                        <m:dPr>
                          <m:ctrlPr>
                            <a:rPr kumimoji="0" lang="en-US" sz="1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635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US" sz="1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635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  <m:t>"iterration:",</m:t>
                          </m:r>
                          <m:r>
                            <a:rPr kumimoji="0" lang="en-US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  <m:t>𝑖</m:t>
                          </m:r>
                        </m:e>
                      </m:d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; </m:t>
                      </m:r>
                    </m:oMath>
                  </m:oMathPara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2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accent3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𝑓𝑒𝑛𝑑</m:t>
                      </m:r>
                    </m:oMath>
                  </m:oMathPara>
                </a14:m>
                <a:endParaRPr kumimoji="0" lang="en-US" sz="1200" b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       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𝑓𝑜𝑟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=[1:2:100]:  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kumimoji="0" lang="en-US" sz="1200" b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+mn-ea"/>
                    <a:cs typeface="Tahoma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𝑝𝑢𝑏𝑙𝑖𝑠ℎ</m:t>
                    </m:r>
                    <m:d>
                      <m:dPr>
                        <m:ctrlPr>
                          <a:rPr kumimoji="0" lang="en-US" sz="12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0" lang="en-US" sz="12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"iteration: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"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, 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𝑖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;    </m:t>
                    </m:r>
                  </m:oMath>
                </a14:m>
                <a:endParaRPr lang="en-US" sz="1200" b="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b="0" i="1" kern="0" smtClean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𝑓</m:t>
                      </m:r>
                      <m:r>
                        <a:rPr lang="en-US" sz="1200" i="1" kern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𝑒𝑛𝑑</m:t>
                      </m:r>
                    </m:oMath>
                  </m:oMathPara>
                </a14:m>
                <a:endParaRPr lang="en-US" sz="1200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rgbClr val="C00000"/>
                    </a:solidFill>
                    <a:latin typeface="Cambria Math" panose="02040503050406030204" pitchFamily="18" charset="0"/>
                    <a:cs typeface="Tahoma" pitchFamily="34" charset="0"/>
                  </a:rPr>
                  <a:t>**for  operator  should be evaluated with all binary, logical and data conversion operator</a:t>
                </a:r>
              </a:p>
              <a:p>
                <a:pPr fontAlgn="base">
                  <a:spcAft>
                    <a:spcPct val="0"/>
                  </a:spcAft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</m:t>
                    </m:r>
                    <m:r>
                      <a:rPr lang="en-US" sz="1200" i="1" ker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𝑓𝑜𝑟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=[1:2:100]:  </m:t>
                    </m:r>
                  </m:oMath>
                </a14:m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𝑖𝑓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𝑖</m:t>
                        </m:r>
                        <m: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%4</m:t>
                        </m:r>
                      </m:e>
                    </m:d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==0:</m:t>
                    </m:r>
                  </m:oMath>
                </a14:m>
                <a:endParaRPr lang="en-US" sz="1200" b="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𝑝𝑢𝑏𝑙𝑖𝑠ℎ</m:t>
                    </m:r>
                    <m:d>
                      <m:dPr>
                        <m:ctrl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"iteration:</m:t>
                        </m:r>
                        <m:r>
                          <a:rPr lang="en-US" sz="1200" i="1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"</m:t>
                        </m:r>
                        <m:r>
                          <a:rPr lang="en-US" sz="12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,</m:t>
                        </m:r>
                        <m:r>
                          <a:rPr lang="en-US" sz="1200" i="1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 </m:t>
                        </m:r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𝑖</m:t>
                        </m:r>
                      </m:e>
                    </m:d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    </m:t>
                    </m:r>
                  </m:oMath>
                </a14:m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𝑖𝑒𝑛𝑑</m:t>
                    </m:r>
                  </m:oMath>
                </a14:m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i="1" kern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𝑓𝑒𝑛𝑑</m:t>
                      </m:r>
                    </m:oMath>
                  </m:oMathPara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97AA26A-D984-544B-7ADB-31987D77D9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56" y="646949"/>
                <a:ext cx="3588327" cy="36916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CE11BD1-05EA-77CC-C204-44FE162C4438}"/>
                  </a:ext>
                </a:extLst>
              </p:cNvPr>
              <p:cNvSpPr/>
              <p:nvPr/>
            </p:nvSpPr>
            <p:spPr>
              <a:xfrm>
                <a:off x="5060092" y="646949"/>
                <a:ext cx="3588327" cy="3691618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sz="1200" b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ea typeface="+mn-ea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𝑓𝑜𝑟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=[1:10]:</m:t>
                    </m:r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/>
                    <a:ea typeface="+mn-ea"/>
                    <a:cs typeface="Tahoma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𝑖𝑓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𝑖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%4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!=0:</m:t>
                    </m:r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/>
                    <a:ea typeface="+mn-ea"/>
                    <a:cs typeface="Tahoma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kumimoji="0" lang="en-US" sz="12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     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𝑝𝑢𝑏𝑙𝑖𝑠ℎ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kumimoji="0" lang="en-US" sz="12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0" lang="en-US" sz="12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"iterration:",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𝑖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; 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2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kumimoji="0" lang="en-US" sz="1200" b="0" i="1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𝑒𝑙𝑠𝑒𝑖𝑓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𝑖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%3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==0: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kumimoji="0" lang="en-US" sz="1200" b="0" i="1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Tahoma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𝑝𝑢𝑏𝑙𝑖𝑠ℎ</m:t>
                    </m:r>
                    <m:d>
                      <m:d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kumimoji="0" lang="en-US" sz="12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the multiplies of 3 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",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𝑖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;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𝑖𝑒𝑛𝑑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2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accent3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𝑓𝑒𝑛𝑑</m:t>
                      </m:r>
                    </m:oMath>
                  </m:oMathPara>
                </a14:m>
                <a:endParaRPr kumimoji="0" lang="en-US" sz="1200" b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       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𝑖𝑓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1==0:  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𝑓𝑜𝑟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2=</m:t>
                    </m:r>
                    <m:d>
                      <m:dPr>
                        <m:ctrlP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1:100</m:t>
                        </m:r>
                      </m:e>
                    </m:d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:</m:t>
                    </m:r>
                  </m:oMath>
                </a14:m>
                <a:endParaRPr lang="en-US" sz="1200" b="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kumimoji="0" lang="en-US" sz="1200" b="0" i="1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Tahoma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en-US" sz="12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𝑝𝑢𝑏𝑙𝑖𝑠ℎ</m:t>
                    </m:r>
                    <m:d>
                      <m:dPr>
                        <m:ctrlPr>
                          <a:rPr kumimoji="0" lang="en-US" sz="12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0" lang="en-US" sz="12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"iteration: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63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", 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𝑖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2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;    </m:t>
                    </m:r>
                  </m:oMath>
                </a14:m>
                <a:endParaRPr lang="en-US" sz="1200" b="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𝑓𝑒𝑛𝑑</m:t>
                    </m:r>
                  </m:oMath>
                </a14:m>
                <a:endParaRPr lang="en-US" sz="1200" b="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b="0" i="1" kern="0" smtClean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𝑖𝑒</m:t>
                      </m:r>
                      <m:r>
                        <a:rPr lang="en-US" sz="1200" i="1" kern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𝑛𝑑</m:t>
                      </m:r>
                    </m:oMath>
                  </m:oMathPara>
                </a14:m>
                <a:endParaRPr lang="en-US" sz="1200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CE11BD1-05EA-77CC-C204-44FE162C44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092" y="646949"/>
                <a:ext cx="3588327" cy="36916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7DF4BA1-2363-B365-35E9-DC65AA9D23D8}"/>
              </a:ext>
            </a:extLst>
          </p:cNvPr>
          <p:cNvSpPr txBox="1"/>
          <p:nvPr/>
        </p:nvSpPr>
        <p:spPr>
          <a:xfrm>
            <a:off x="69272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4AC799-5502-F924-AC48-13BBC8CCAFC1}"/>
              </a:ext>
            </a:extLst>
          </p:cNvPr>
          <p:cNvSpPr txBox="1"/>
          <p:nvPr/>
        </p:nvSpPr>
        <p:spPr>
          <a:xfrm>
            <a:off x="5985164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India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4413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0A505-37A0-A8AF-A88A-2DC130D8B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06E3BF-8AE9-0F72-65B7-15141C0EE73F}"/>
              </a:ext>
            </a:extLst>
          </p:cNvPr>
          <p:cNvSpPr/>
          <p:nvPr/>
        </p:nvSpPr>
        <p:spPr>
          <a:xfrm>
            <a:off x="0" y="4758267"/>
            <a:ext cx="9144000" cy="38523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D113C-DEB2-B096-F919-5013E90801B3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E741ED-FED9-72F4-06B9-D88272D7DCE2}"/>
              </a:ext>
            </a:extLst>
          </p:cNvPr>
          <p:cNvSpPr/>
          <p:nvPr/>
        </p:nvSpPr>
        <p:spPr>
          <a:xfrm>
            <a:off x="494146" y="154400"/>
            <a:ext cx="291137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“while” Operator:</a:t>
            </a:r>
            <a:endParaRPr lang="en-US" sz="2400" b="1" cap="none" spc="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CFBC08-975F-97A3-D14D-AC745BC06764}"/>
              </a:ext>
            </a:extLst>
          </p:cNvPr>
          <p:cNvSpPr/>
          <p:nvPr/>
        </p:nvSpPr>
        <p:spPr>
          <a:xfrm>
            <a:off x="4991303" y="154399"/>
            <a:ext cx="38860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“while” Operator </a:t>
            </a:r>
            <a:r>
              <a:rPr lang="en-US" sz="10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(with branch)</a:t>
            </a:r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endParaRPr lang="en-US" sz="2400" b="1" cap="none" spc="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4177902-A0BC-EFB0-39C6-939297FFCAAA}"/>
                  </a:ext>
                </a:extLst>
              </p:cNvPr>
              <p:cNvSpPr/>
              <p:nvPr/>
            </p:nvSpPr>
            <p:spPr>
              <a:xfrm>
                <a:off x="5061527" y="646949"/>
                <a:ext cx="3588327" cy="3971233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kern="0" dirty="0">
                    <a:solidFill>
                      <a:schemeClr val="tx2">
                        <a:lumMod val="50000"/>
                      </a:schemeClr>
                    </a:solidFill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𝑣𝑎𝑟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=0; </m:t>
                    </m:r>
                  </m:oMath>
                </a14:m>
                <a:endParaRPr lang="en-US" sz="1200" i="1" kern="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r>
                  <a:rPr lang="en-US" sz="1200" kern="0" dirty="0">
                    <a:solidFill>
                      <a:schemeClr val="tx2">
                        <a:lumMod val="50000"/>
                      </a:schemeClr>
                    </a:solidFill>
                    <a:cs typeface="Tahoma" pitchFamily="34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𝑤ℎ𝑖𝑙𝑒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</m:t>
                    </m:r>
                    <m:r>
                      <a:rPr lang="en-US" sz="1200" i="1" kern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&lt;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100:</m:t>
                    </m:r>
                  </m:oMath>
                </a14:m>
                <a:endParaRPr lang="en-US" sz="12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+1;</m:t>
                    </m:r>
                  </m:oMath>
                </a14:m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𝑖𝑓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𝑖</m:t>
                        </m:r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%5</m:t>
                        </m:r>
                      </m:e>
                    </m:d>
                    <m:r>
                      <a:rPr lang="en-US" sz="1200" i="1" kern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==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0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:</m:t>
                    </m:r>
                  </m:oMath>
                </a14:m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𝑝𝑢𝑏𝑙𝑖𝑠ℎ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"Division of 5:",</m:t>
                        </m:r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𝑖</m:t>
                        </m:r>
                      </m:e>
                    </m:d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</m:oMath>
                </a14:m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𝑒𝑙𝑠𝑒𝑖𝑓</m:t>
                    </m:r>
                    <m:d>
                      <m:dPr>
                        <m:ctrlP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𝑖</m:t>
                        </m:r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%4</m:t>
                        </m:r>
                      </m:e>
                    </m:d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==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0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:</m:t>
                    </m:r>
                  </m:oMath>
                </a14:m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kern="0" dirty="0">
                    <a:solidFill>
                      <a:schemeClr val="tx1"/>
                    </a:solidFill>
                    <a:cs typeface="Tahoma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𝑝𝑢𝑏𝑙𝑖𝑠ℎ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"Division of 4:",</m:t>
                        </m:r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𝑖</m:t>
                        </m:r>
                      </m:e>
                    </m:d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</m:t>
                    </m:r>
                  </m:oMath>
                </a14:m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𝑒𝑙𝑠𝑒</m:t>
                    </m:r>
                    <m:r>
                      <a:rPr lang="en-US" sz="12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:</m:t>
                    </m:r>
                  </m:oMath>
                </a14:m>
                <a:endParaRPr lang="en-US" sz="1200" b="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𝑝𝑢𝑏𝑙𝑖𝑠ℎ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1200" b="0" i="0" kern="0" smtClea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Not divisible by 5 &amp; 4:",</m:t>
                        </m:r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𝑖</m:t>
                        </m:r>
                      </m:e>
                    </m:d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 </m:t>
                    </m:r>
                  </m:oMath>
                </a14:m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𝑖𝑒𝑛𝑑</m:t>
                    </m:r>
                  </m:oMath>
                </a14:m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      </a:t>
                </a: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i="1" kern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𝑤𝑒𝑛𝑑</m:t>
                      </m:r>
                    </m:oMath>
                  </m:oMathPara>
                </a14:m>
                <a:endParaRPr lang="en-US" sz="1200" kern="0" dirty="0">
                  <a:solidFill>
                    <a:srgbClr val="C00000"/>
                  </a:solidFill>
                  <a:latin typeface="Tahom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kern="0" dirty="0">
                    <a:solidFill>
                      <a:schemeClr val="tx2">
                        <a:lumMod val="50000"/>
                      </a:schemeClr>
                    </a:solidFill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𝑣𝑎𝑟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=0; </m:t>
                    </m:r>
                  </m:oMath>
                </a14:m>
                <a:endParaRPr lang="en-US" sz="1200" i="1" kern="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r>
                  <a:rPr lang="en-US" sz="1200" kern="0" dirty="0">
                    <a:solidFill>
                      <a:schemeClr val="tx2">
                        <a:lumMod val="50000"/>
                      </a:schemeClr>
                    </a:solidFill>
                    <a:cs typeface="Tahoma" pitchFamily="34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𝑤ℎ𝑖𝑙𝑒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</m:t>
                    </m:r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&lt;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100:</m:t>
                    </m:r>
                  </m:oMath>
                </a14:m>
                <a:endParaRPr lang="en-US" sz="12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+1;</m:t>
                    </m:r>
                  </m:oMath>
                </a14:m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𝑖𝑓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𝑖</m:t>
                        </m:r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%5</m:t>
                        </m:r>
                      </m:e>
                    </m:d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==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0:</m:t>
                    </m:r>
                  </m:oMath>
                </a14:m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𝑓𝑜𝑟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𝑗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1:5</m:t>
                        </m:r>
                      </m:e>
                    </m:d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:</m:t>
                    </m:r>
                  </m:oMath>
                </a14:m>
                <a:endParaRPr lang="en-US" sz="1200" b="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𝑝𝑢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𝑏𝑙𝑖𝑠ℎ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1200" b="0" i="0" kern="0" smtClea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India! The Nation</m:t>
                        </m:r>
                        <m:r>
                          <m:rPr>
                            <m:nor/>
                          </m:r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:",</m:t>
                        </m:r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𝑖</m:t>
                        </m:r>
                      </m:e>
                    </m:d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 </m:t>
                    </m:r>
                  </m:oMath>
                </a14:m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𝑓𝑒𝑛𝑑</m:t>
                    </m:r>
                  </m:oMath>
                </a14:m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𝑖𝑒𝑛𝑑</m:t>
                    </m:r>
                  </m:oMath>
                </a14:m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      </a:t>
                </a: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i="1" kern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𝑤𝑒𝑛𝑑</m:t>
                      </m:r>
                    </m:oMath>
                  </m:oMathPara>
                </a14:m>
                <a:endParaRPr lang="en-US" sz="1200" kern="0" dirty="0">
                  <a:solidFill>
                    <a:srgbClr val="C00000"/>
                  </a:solidFill>
                  <a:latin typeface="Tahom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4177902-A0BC-EFB0-39C6-939297FFCA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527" y="646949"/>
                <a:ext cx="3588327" cy="39712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8145490-81FD-C0BE-7998-F15F6277A48C}"/>
                  </a:ext>
                </a:extLst>
              </p:cNvPr>
              <p:cNvSpPr/>
              <p:nvPr/>
            </p:nvSpPr>
            <p:spPr>
              <a:xfrm>
                <a:off x="521856" y="646949"/>
                <a:ext cx="3588327" cy="3691618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sz="1200" b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ea typeface="+mn-ea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𝑣𝑎𝑟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=0; 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sz="1200" b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ea typeface="+mn-ea"/>
                    <a:cs typeface="Tahoma" pitchFamily="34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𝑤ℎ𝑖𝑙𝑒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𝑖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&lt;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100:</m:t>
                    </m:r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𝑝𝑢𝑏𝑙𝑖𝑠ℎ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 </m:t>
                      </m:r>
                      <m:d>
                        <m:dPr>
                          <m:ctrlPr>
                            <a:rPr kumimoji="0" lang="en-US" sz="1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635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US" sz="1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635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  <m:t>"iterration:",</m:t>
                          </m:r>
                          <m:r>
                            <a:rPr kumimoji="0" lang="en-US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ahoma" pitchFamily="34" charset="0"/>
                            </a:rPr>
                            <m:t>𝑖</m:t>
                          </m:r>
                        </m:e>
                      </m:d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; </m:t>
                      </m:r>
                    </m:oMath>
                  </m:oMathPara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2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+1;</m:t>
                    </m:r>
                  </m:oMath>
                </a14:m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2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accent3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𝑤𝑒𝑛𝑑</m:t>
                      </m:r>
                    </m:oMath>
                  </m:oMathPara>
                </a14:m>
                <a:endParaRPr kumimoji="0" lang="en-US" sz="1200" b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endParaRPr lang="en-US" sz="120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rgbClr val="C00000"/>
                    </a:solidFill>
                    <a:latin typeface="Cambria Math" panose="02040503050406030204" pitchFamily="18" charset="0"/>
                    <a:cs typeface="Tahoma" pitchFamily="34" charset="0"/>
                  </a:rPr>
                  <a:t>**while  operator  should be evaluated with all binary, logical and data conversion operator</a:t>
                </a:r>
              </a:p>
              <a:p>
                <a:pPr fontAlgn="base">
                  <a:spcAft>
                    <a:spcPct val="0"/>
                  </a:spcAft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kern="0" dirty="0">
                    <a:solidFill>
                      <a:schemeClr val="tx2">
                        <a:lumMod val="50000"/>
                      </a:schemeClr>
                    </a:solidFill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𝑣𝑎𝑟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=0; </m:t>
                    </m:r>
                  </m:oMath>
                </a14:m>
                <a:endParaRPr lang="en-US" sz="1200" i="1" kern="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r>
                  <a:rPr lang="en-US" sz="1200" kern="0" dirty="0">
                    <a:solidFill>
                      <a:schemeClr val="tx2">
                        <a:lumMod val="50000"/>
                      </a:schemeClr>
                    </a:solidFill>
                    <a:cs typeface="Tahoma" pitchFamily="34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𝑤ℎ𝑖𝑙𝑒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</m:t>
                    </m:r>
                    <m:r>
                      <a:rPr lang="en-US" sz="1200" i="1" kern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&lt;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100:</m:t>
                    </m:r>
                  </m:oMath>
                </a14:m>
                <a:endParaRPr lang="en-US" sz="12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+1;</m:t>
                    </m:r>
                  </m:oMath>
                </a14:m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𝑖𝑓</m:t>
                    </m:r>
                    <m:r>
                      <a:rPr lang="en-US" sz="12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𝑖</m:t>
                        </m:r>
                        <m: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%5</m:t>
                        </m:r>
                      </m:e>
                    </m:d>
                    <m:r>
                      <a:rPr lang="en-US" sz="1200" b="0" i="1" kern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==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0:</m:t>
                    </m:r>
                  </m:oMath>
                </a14:m>
                <a:endParaRPr lang="en-US" sz="1200" b="0" i="1" kern="0" dirty="0">
                  <a:solidFill>
                    <a:schemeClr val="tx1"/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𝑝𝑢𝑏𝑙𝑖𝑠ℎ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d>
                      <m:dPr>
                        <m:ctrl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200" i="0" ker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1200" b="0" i="0" kern="0" smtClean="0">
                            <a:solidFill>
                              <a:srgbClr val="007635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Division of 5:",</m:t>
                        </m:r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𝑖</m:t>
                        </m:r>
                      </m:e>
                    </m:d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 </m:t>
                    </m:r>
                  </m:oMath>
                </a14:m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𝑖𝑒𝑛𝑑</m:t>
                    </m:r>
                  </m:oMath>
                </a14:m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      </a:t>
                </a:r>
              </a:p>
              <a:p>
                <a:pPr lvl="1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i="1" kern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𝑤𝑒𝑛𝑑</m:t>
                      </m:r>
                    </m:oMath>
                  </m:oMathPara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8145490-81FD-C0BE-7998-F15F6277A4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56" y="646949"/>
                <a:ext cx="3588327" cy="36916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411837AB-3CD4-AE4C-9AF4-6455F3F7CA9E}"/>
                  </a:ext>
                </a:extLst>
              </p:cNvPr>
              <p:cNvSpPr/>
              <p:nvPr/>
            </p:nvSpPr>
            <p:spPr>
              <a:xfrm>
                <a:off x="32328" y="4498090"/>
                <a:ext cx="3500581" cy="238772"/>
              </a:xfrm>
              <a:prstGeom prst="roundRect">
                <a:avLst/>
              </a:prstGeom>
              <a:solidFill>
                <a:srgbClr val="92D05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/>
                    <a:ea typeface="+mn-ea"/>
                    <a:cs typeface="Tahoma" pitchFamily="34" charset="0"/>
                  </a:rPr>
                  <a:t>Similarly, “</a:t>
                </a:r>
                <a14:m>
                  <m:oMath xmlns:m="http://schemas.openxmlformats.org/officeDocument/2006/math">
                    <m:r>
                      <a:rPr kumimoji="0" lang="en-US" sz="1200" b="1" i="1" u="none" strike="noStrike" kern="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𝒘𝒉𝒊𝒍𝒆</m:t>
                    </m:r>
                    <m:r>
                      <a:rPr kumimoji="0" lang="en-US" sz="1200" b="1" i="1" u="none" strike="noStrike" kern="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1" i="1" u="none" strike="noStrike" kern="0" cap="none" spc="0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𝒏𝒐𝒕</m:t>
                    </m:r>
                  </m:oMath>
                </a14:m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ahoma"/>
                    <a:ea typeface="+mn-ea"/>
                    <a:cs typeface="Tahoma" pitchFamily="34" charset="0"/>
                  </a:rPr>
                  <a:t>” also be </a:t>
                </a:r>
                <a:r>
                  <a:rPr kumimoji="0" lang="en-US" sz="1200" b="1" i="0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Tahoma"/>
                    <a:ea typeface="+mn-ea"/>
                    <a:cs typeface="Tahoma" pitchFamily="34" charset="0"/>
                  </a:rPr>
                  <a:t>deveoped</a:t>
                </a: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411837AB-3CD4-AE4C-9AF4-6455F3F7CA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8" y="4498090"/>
                <a:ext cx="3500581" cy="23877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DA85E86-E79B-136C-23EC-00F43137A656}"/>
              </a:ext>
            </a:extLst>
          </p:cNvPr>
          <p:cNvSpPr txBox="1"/>
          <p:nvPr/>
        </p:nvSpPr>
        <p:spPr>
          <a:xfrm>
            <a:off x="69272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B908EE-751A-62C1-0836-C02D27EF3DDE}"/>
              </a:ext>
            </a:extLst>
          </p:cNvPr>
          <p:cNvSpPr txBox="1"/>
          <p:nvPr/>
        </p:nvSpPr>
        <p:spPr>
          <a:xfrm>
            <a:off x="5985164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India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677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E94C6-8F99-4985-03D4-5179BE613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104954-18A7-A984-DBA8-61178E82E5D7}"/>
              </a:ext>
            </a:extLst>
          </p:cNvPr>
          <p:cNvSpPr/>
          <p:nvPr/>
        </p:nvSpPr>
        <p:spPr>
          <a:xfrm>
            <a:off x="0" y="4758267"/>
            <a:ext cx="9144000" cy="38523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457576-9699-BA61-AAF2-DDDB9460032A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2F3B25-63A3-85A8-3F60-CE79ED37D478}"/>
              </a:ext>
            </a:extLst>
          </p:cNvPr>
          <p:cNvSpPr/>
          <p:nvPr/>
        </p:nvSpPr>
        <p:spPr>
          <a:xfrm>
            <a:off x="266697" y="154399"/>
            <a:ext cx="407439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Functions </a:t>
            </a:r>
            <a:r>
              <a:rPr lang="en-US" sz="12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(Syntax)</a:t>
            </a:r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endParaRPr lang="en-US" sz="2400" b="1" cap="none" spc="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A0FFAE-5EC0-FC15-B5A8-D28202E03207}"/>
              </a:ext>
            </a:extLst>
          </p:cNvPr>
          <p:cNvSpPr txBox="1"/>
          <p:nvPr/>
        </p:nvSpPr>
        <p:spPr>
          <a:xfrm>
            <a:off x="69272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0353E8-FB61-7965-3E73-677918DE1FC9}"/>
              </a:ext>
            </a:extLst>
          </p:cNvPr>
          <p:cNvSpPr txBox="1"/>
          <p:nvPr/>
        </p:nvSpPr>
        <p:spPr>
          <a:xfrm>
            <a:off x="5985164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India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F24C9B0-439F-5220-D5CD-38CB3E26E615}"/>
                  </a:ext>
                </a:extLst>
              </p:cNvPr>
              <p:cNvSpPr/>
              <p:nvPr/>
            </p:nvSpPr>
            <p:spPr>
              <a:xfrm>
                <a:off x="266697" y="616063"/>
                <a:ext cx="4074394" cy="4011141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𝑓𝑢𝑛𝑐𝑡𝑖𝑜𝑛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𝑜𝑢𝑡𝑝𝑢𝑡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𝑎𝑟𝑔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=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𝐹𝑢𝑛𝑐𝑡𝑖𝑜𝑛𝑁𝑎𝑚𝑒</m:t>
                    </m:r>
                    <m:d>
                      <m:d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𝑖𝑛𝑝𝑢𝑡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 </m:t>
                        </m:r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𝑎𝑟𝑔</m:t>
                        </m:r>
                      </m:e>
                    </m:d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25000"/>
                    </a:schemeClr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Para xmlns:m="http://schemas.openxmlformats.org/officeDocument/2006/math">
                    <m:oMath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accent3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 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𝑜𝑝𝑒𝑟𝑎𝑡𝑖𝑜𝑛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 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𝑓𝑜𝑟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 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𝑚𝑎𝑝𝑝𝑖𝑛𝑔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 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𝑖𝑛𝑝𝑢𝑡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 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𝑎𝑛𝑑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 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𝑜𝑢𝑡𝑝𝑢𝑡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 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𝑎𝑟𝑔</m:t>
                      </m:r>
                      <m:r>
                        <a:rPr kumimoji="0" lang="en-US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ahoma" pitchFamily="34" charset="0"/>
                        </a:rPr>
                        <m:t>;</m:t>
                      </m:r>
                    </m:oMath>
                  </m:oMathPara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25000"/>
                    </a:schemeClr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   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𝑓𝑛𝑒𝑛𝑑</m:t>
                    </m:r>
                  </m:oMath>
                </a14:m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25000"/>
                      </a:schemeClr>
                    </a:solidFill>
                    <a:effectLst/>
                    <a:uLnTx/>
                    <a:uFillTx/>
                    <a:latin typeface="Tahoma"/>
                    <a:ea typeface="+mn-ea"/>
                    <a:cs typeface="Tahoma" pitchFamily="34" charset="0"/>
                  </a:rPr>
                  <a:t>   </a:t>
                </a: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latin typeface="Tahoma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latin typeface="Tahom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𝑓𝑢𝑛𝑐𝑡𝑖𝑜𝑛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(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𝑜𝑢𝑡𝑝𝑢𝑡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𝑎𝑟𝑔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)=</m:t>
                    </m:r>
                    <m:r>
                      <a:rPr lang="en-US" sz="12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𝐹𝑢𝑛𝑐𝑡𝑖𝑜𝑛𝑁𝑎𝑚𝑒</m:t>
                    </m:r>
                    <m:d>
                      <m:dPr>
                        <m:ctrlP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𝑖𝑛𝑝𝑢𝑡</m:t>
                        </m:r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 </m:t>
                        </m:r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𝑎𝑟𝑔𝑠</m:t>
                        </m:r>
                      </m:e>
                    </m:d>
                  </m:oMath>
                </a14:m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200" i="1" kern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𝑜𝑝𝑒𝑟𝑎𝑡𝑖𝑜𝑛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𝑓𝑜𝑟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𝑚𝑎𝑝𝑝𝑖𝑛𝑔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𝑖𝑛𝑝𝑢𝑡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𝑎𝑛𝑑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𝑜𝑢𝑡𝑝𝑢𝑡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𝑎𝑟𝑔𝑠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;</m:t>
                      </m:r>
                    </m:oMath>
                  </m:oMathPara>
                </a14:m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𝑓𝑛𝑒𝑛𝑑</m:t>
                    </m:r>
                  </m:oMath>
                </a14:m>
                <a:r>
                  <a:rPr lang="en-US" sz="12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latin typeface="Tahoma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latin typeface="Tahom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𝑓𝑢𝑛𝑐𝑡𝑖𝑜𝑛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(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𝑜𝑢𝑡𝑝𝑢𝑡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𝑎𝑟𝑔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)=</m:t>
                    </m:r>
                    <m:r>
                      <a:rPr lang="en-US" sz="12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𝐹𝑢𝑛𝑐𝑡𝑖𝑜𝑛𝑁𝑎𝑚𝑒</m:t>
                    </m:r>
                    <m:d>
                      <m:dPr>
                        <m:ctrlP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.</m:t>
                        </m:r>
                      </m:e>
                    </m:d>
                  </m:oMath>
                </a14:m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200" i="1" kern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𝑜𝑝𝑒𝑟𝑎𝑡𝑖𝑜𝑛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𝑓𝑜𝑟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𝑚𝑎𝑝𝑝𝑖𝑛𝑔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𝑜𝑢𝑡𝑝𝑢𝑡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𝑜𝑛𝑙𝑦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;</m:t>
                      </m:r>
                    </m:oMath>
                  </m:oMathPara>
                </a14:m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𝑓𝑛𝑒𝑛𝑑</m:t>
                    </m:r>
                  </m:oMath>
                </a14:m>
                <a:r>
                  <a:rPr lang="en-US" sz="12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25000"/>
                    </a:schemeClr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25000"/>
                    </a:schemeClr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𝑓𝑢𝑛𝑐𝑡𝑖𝑜𝑛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</m:t>
                    </m:r>
                    <m:r>
                      <a:rPr lang="en-US" sz="12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𝐹𝑢𝑛𝑐𝑡𝑖𝑜𝑛𝑁𝑎𝑚𝑒</m:t>
                    </m:r>
                    <m:d>
                      <m:dPr>
                        <m:ctrlP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.</m:t>
                        </m:r>
                      </m:e>
                    </m:d>
                  </m:oMath>
                </a14:m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200" i="1" kern="0">
                          <a:solidFill>
                            <a:schemeClr val="accent3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𝑜𝑝𝑒𝑟𝑎𝑡𝑖𝑜𝑛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𝑓𝑜𝑟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ℎ𝑖𝑑𝑑𝑒𝑛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𝑖𝑛𝑡𝑎𝑛𝑔𝑖𝑏𝑙𝑒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sz="12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𝑤𝑜𝑟𝑘</m:t>
                      </m:r>
                      <m:r>
                        <a:rPr lang="en-US" sz="12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ahoma" pitchFamily="34" charset="0"/>
                        </a:rPr>
                        <m:t>;</m:t>
                      </m:r>
                    </m:oMath>
                  </m:oMathPara>
                </a14:m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𝑓𝑛𝑒𝑛𝑑</m:t>
                    </m:r>
                  </m:oMath>
                </a14:m>
                <a:r>
                  <a:rPr lang="en-US" sz="12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25000"/>
                    </a:schemeClr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F24C9B0-439F-5220-D5CD-38CB3E26E6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7" y="616063"/>
                <a:ext cx="4074394" cy="40111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A224E7-451F-A98E-CB82-ACE27D4913BA}"/>
                  </a:ext>
                </a:extLst>
              </p:cNvPr>
              <p:cNvSpPr/>
              <p:nvPr/>
            </p:nvSpPr>
            <p:spPr>
              <a:xfrm>
                <a:off x="4659747" y="616064"/>
                <a:ext cx="4124034" cy="4011140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𝑓𝑢𝑛𝑐𝑡𝑖𝑜𝑛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𝐵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=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𝑠𝑞𝑢𝑎𝑟𝑒</m:t>
                    </m:r>
                    <m:d>
                      <m:dPr>
                        <m:ctrlP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ahoma" pitchFamily="34" charset="0"/>
                          </a:rPr>
                          <m:t>𝐴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</m:t>
                    </m:r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𝐵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=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𝐴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^2;</m:t>
                    </m:r>
                  </m:oMath>
                </a14:m>
                <a:r>
                  <a:rPr lang="en-US" sz="1200" kern="0" dirty="0">
                    <a:solidFill>
                      <a:schemeClr val="tx1"/>
                    </a:solidFill>
                    <a:latin typeface="Tahoma"/>
                    <a:cs typeface="Tahoma" pitchFamily="34" charset="0"/>
                  </a:rPr>
                  <a:t> </a:t>
                </a: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sz="1200" b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25000"/>
                      </a:schemeClr>
                    </a:solidFill>
                    <a:effectLst/>
                    <a:uLnTx/>
                    <a:uFillTx/>
                    <a:ea typeface="+mn-ea"/>
                    <a:cs typeface="Tahoma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𝑓𝑛𝑒𝑛𝑑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ahoma" pitchFamily="34" charset="0"/>
                      </a:rPr>
                      <m:t>  </m:t>
                    </m:r>
                  </m:oMath>
                </a14:m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25000"/>
                      </a:schemeClr>
                    </a:solidFill>
                    <a:effectLst/>
                    <a:uLnTx/>
                    <a:uFillTx/>
                    <a:latin typeface="Tahoma"/>
                    <a:ea typeface="+mn-ea"/>
                    <a:cs typeface="Tahoma" pitchFamily="34" charset="0"/>
                  </a:rPr>
                  <a:t> </a:t>
                </a: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25000"/>
                    </a:schemeClr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25000"/>
                    </a:schemeClr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𝑓𝑢𝑛𝑐𝑡𝑖𝑜𝑛</m:t>
                    </m:r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(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𝐵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1,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𝐵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2)=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𝑎𝑟𝑡ℎ𝑒𝑚𝑎𝑡𝑖𝑐𝑠</m:t>
                    </m:r>
                    <m:d>
                      <m:dPr>
                        <m:ctrlP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12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𝐴</m:t>
                        </m:r>
                        <m: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1,</m:t>
                        </m:r>
                        <m: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𝐴</m:t>
                        </m:r>
                        <m:r>
                          <a:rPr lang="en-US" sz="12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2</m:t>
                        </m:r>
                      </m:e>
                    </m:d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</m:oMath>
                </a14:m>
                <a:endParaRPr lang="en-US" sz="1200" kern="0" dirty="0">
                  <a:solidFill>
                    <a:srgbClr val="C00000"/>
                  </a:solidFill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𝐵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1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1+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2;</m:t>
                    </m:r>
                  </m:oMath>
                </a14:m>
                <a:r>
                  <a:rPr lang="en-US" sz="1200" kern="0" dirty="0">
                    <a:solidFill>
                      <a:schemeClr val="tx1"/>
                    </a:solidFill>
                    <a:cs typeface="Tahoma" pitchFamily="34" charset="0"/>
                  </a:rPr>
                  <a:t> </a:t>
                </a:r>
              </a:p>
              <a:p>
                <a:pPr lvl="1"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𝐵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2=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1−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2;</m:t>
                    </m:r>
                  </m:oMath>
                </a14:m>
                <a:r>
                  <a:rPr lang="en-US" sz="1200" kern="0" dirty="0">
                    <a:solidFill>
                      <a:schemeClr val="tx1"/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:r>
                  <a:rPr lang="en-US" sz="12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𝑓𝑛𝑒𝑛𝑑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</m:t>
                    </m:r>
                  </m:oMath>
                </a14:m>
                <a:r>
                  <a:rPr lang="en-US" sz="12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𝑓𝑢𝑛𝑐𝑡𝑖𝑜𝑛</m:t>
                    </m:r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𝐵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𝐶𝑎𝑠𝑖𝑛𝑜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() </m:t>
                    </m:r>
                  </m:oMath>
                </a14:m>
                <a:endParaRPr lang="en-US" sz="1200" kern="0" dirty="0">
                  <a:solidFill>
                    <a:srgbClr val="C00000"/>
                  </a:solidFill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𝐵</m:t>
                    </m:r>
                    <m:r>
                      <a:rPr lang="en-US" sz="12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𝑟𝑎𝑛𝑑𝑜𝑚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.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𝑖𝑛𝑡𝑒𝑔𝑒𝑟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();</m:t>
                    </m:r>
                  </m:oMath>
                </a14:m>
                <a:r>
                  <a:rPr lang="en-US" sz="1200" kern="0" dirty="0">
                    <a:solidFill>
                      <a:schemeClr val="tx1"/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:r>
                  <a:rPr lang="en-US" sz="12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𝑓𝑛𝑒𝑛𝑑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</m:t>
                    </m:r>
                  </m:oMath>
                </a14:m>
                <a:r>
                  <a:rPr lang="en-US" sz="12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latin typeface="Tahoma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latin typeface="Tahoma"/>
                  <a:cs typeface="Tahoma" pitchFamily="34" charset="0"/>
                </a:endParaRPr>
              </a:p>
              <a:p>
                <a:pPr marL="171450" indent="-1714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𝑓𝑢𝑛𝑐𝑡𝑖𝑜𝑛</m:t>
                    </m:r>
                    <m:r>
                      <a:rPr lang="en-US" sz="1200" i="1" ker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𝑝𝑟𝑜𝑣𝑒𝑟𝑏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() </m:t>
                    </m:r>
                  </m:oMath>
                </a14:m>
                <a:endParaRPr lang="en-US" sz="1200" kern="0" dirty="0">
                  <a:solidFill>
                    <a:srgbClr val="C00000"/>
                  </a:solidFill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𝑝𝑢𝑏𝑙𝑖𝑠ℎ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("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𝑁𝑜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𝑃𝑎𝑖𝑛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𝑁𝑜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𝐺𝑎𝑖𝑛</m:t>
                    </m:r>
                    <m:r>
                      <a:rPr lang="en-US" sz="12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");</m:t>
                    </m:r>
                  </m:oMath>
                </a14:m>
                <a:r>
                  <a:rPr lang="en-US" sz="1200" kern="0" dirty="0">
                    <a:solidFill>
                      <a:schemeClr val="tx1"/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:r>
                  <a:rPr lang="en-US" sz="12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𝑓𝑛𝑒𝑛𝑑</m:t>
                    </m:r>
                    <m:r>
                      <a:rPr lang="en-US" sz="12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</m:t>
                    </m:r>
                  </m:oMath>
                </a14:m>
                <a:r>
                  <a:rPr lang="en-US" sz="12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latin typeface="Tahoma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A224E7-451F-A98E-CB82-ACE27D4913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747" y="616064"/>
                <a:ext cx="4124034" cy="40111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982F0A5-BA2D-6781-5BFD-4C69CD360263}"/>
              </a:ext>
            </a:extLst>
          </p:cNvPr>
          <p:cNvSpPr/>
          <p:nvPr/>
        </p:nvSpPr>
        <p:spPr>
          <a:xfrm>
            <a:off x="2627746" y="616062"/>
            <a:ext cx="1713345" cy="207818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Single variable function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B7D7B60-06C4-14E4-C682-6CDE3BFF4EFE}"/>
              </a:ext>
            </a:extLst>
          </p:cNvPr>
          <p:cNvSpPr/>
          <p:nvPr/>
        </p:nvSpPr>
        <p:spPr>
          <a:xfrm>
            <a:off x="2624857" y="1597068"/>
            <a:ext cx="1713345" cy="207818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Multi variable function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FEC3113-9D54-53E7-F544-85FA84765807}"/>
              </a:ext>
            </a:extLst>
          </p:cNvPr>
          <p:cNvSpPr/>
          <p:nvPr/>
        </p:nvSpPr>
        <p:spPr>
          <a:xfrm>
            <a:off x="2627746" y="2517724"/>
            <a:ext cx="1713345" cy="207818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Function with no input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5569F3-8276-AD62-5027-7B74E88FEA94}"/>
              </a:ext>
            </a:extLst>
          </p:cNvPr>
          <p:cNvSpPr/>
          <p:nvPr/>
        </p:nvSpPr>
        <p:spPr>
          <a:xfrm>
            <a:off x="2624856" y="3394821"/>
            <a:ext cx="1713345" cy="207818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63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Function with no input &amp; output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F99D23-2BAD-96CF-95CB-1B7FB70E8999}"/>
              </a:ext>
            </a:extLst>
          </p:cNvPr>
          <p:cNvSpPr/>
          <p:nvPr/>
        </p:nvSpPr>
        <p:spPr>
          <a:xfrm>
            <a:off x="4684567" y="111293"/>
            <a:ext cx="407439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Functions </a:t>
            </a:r>
            <a:r>
              <a:rPr lang="en-US" sz="12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(Examples)</a:t>
            </a:r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endParaRPr lang="en-US" sz="2400" b="1" cap="none" spc="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419D9D4-D569-D205-6C93-E6587246B783}"/>
              </a:ext>
            </a:extLst>
          </p:cNvPr>
          <p:cNvCxnSpPr/>
          <p:nvPr/>
        </p:nvCxnSpPr>
        <p:spPr>
          <a:xfrm>
            <a:off x="4040909" y="1094509"/>
            <a:ext cx="845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3A0185-6154-68D4-DC72-0413AE15896F}"/>
              </a:ext>
            </a:extLst>
          </p:cNvPr>
          <p:cNvCxnSpPr/>
          <p:nvPr/>
        </p:nvCxnSpPr>
        <p:spPr>
          <a:xfrm>
            <a:off x="4040908" y="2059709"/>
            <a:ext cx="845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BEA0FD9-FC52-220C-D4A3-F34D199D3983}"/>
              </a:ext>
            </a:extLst>
          </p:cNvPr>
          <p:cNvCxnSpPr/>
          <p:nvPr/>
        </p:nvCxnSpPr>
        <p:spPr>
          <a:xfrm>
            <a:off x="4040909" y="3103418"/>
            <a:ext cx="845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74F3B0A-FBE5-392C-5AF9-3B70164B85FD}"/>
              </a:ext>
            </a:extLst>
          </p:cNvPr>
          <p:cNvCxnSpPr/>
          <p:nvPr/>
        </p:nvCxnSpPr>
        <p:spPr>
          <a:xfrm>
            <a:off x="4040907" y="4068618"/>
            <a:ext cx="8451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912038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7D547-E4E4-7CBC-56EE-0F2114420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76997D-6D43-1E65-6CD2-7547E89539BB}"/>
              </a:ext>
            </a:extLst>
          </p:cNvPr>
          <p:cNvSpPr/>
          <p:nvPr/>
        </p:nvSpPr>
        <p:spPr>
          <a:xfrm>
            <a:off x="0" y="4758267"/>
            <a:ext cx="9144000" cy="38523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F6D491-960B-7BA1-E154-860C9822008D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E16470-ABD9-10D0-3A2F-1C23A0D06CA6}"/>
              </a:ext>
            </a:extLst>
          </p:cNvPr>
          <p:cNvSpPr/>
          <p:nvPr/>
        </p:nvSpPr>
        <p:spPr>
          <a:xfrm>
            <a:off x="266697" y="154399"/>
            <a:ext cx="407439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Class </a:t>
            </a:r>
            <a:r>
              <a:rPr lang="en-US" sz="12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(Syntax)</a:t>
            </a:r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endParaRPr lang="en-US" sz="2400" b="1" cap="none" spc="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DCB05C-369F-1828-1E39-319EAC266FCA}"/>
              </a:ext>
            </a:extLst>
          </p:cNvPr>
          <p:cNvSpPr txBox="1"/>
          <p:nvPr/>
        </p:nvSpPr>
        <p:spPr>
          <a:xfrm>
            <a:off x="69272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990181-244D-97C6-45B5-80362D3E04F1}"/>
              </a:ext>
            </a:extLst>
          </p:cNvPr>
          <p:cNvSpPr txBox="1"/>
          <p:nvPr/>
        </p:nvSpPr>
        <p:spPr>
          <a:xfrm>
            <a:off x="5985164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India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4122088-260B-803D-F3A6-5AA1D21283EF}"/>
                  </a:ext>
                </a:extLst>
              </p:cNvPr>
              <p:cNvSpPr/>
              <p:nvPr/>
            </p:nvSpPr>
            <p:spPr>
              <a:xfrm>
                <a:off x="266697" y="616063"/>
                <a:ext cx="4074394" cy="4011141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c</a:t>
                </a:r>
                <a:r>
                  <a:rPr kumimoji="0" lang="en-US" sz="1200" b="0" i="1" u="none" strike="noStrike" kern="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2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Tahoma" pitchFamily="34" charset="0"/>
                  </a:rPr>
                  <a:t>lass  </a:t>
                </a:r>
                <a:r>
                  <a:rPr kumimoji="0" lang="en-US" sz="12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7635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Tahoma" pitchFamily="34" charset="0"/>
                  </a:rPr>
                  <a:t>ClassName1() </a:t>
                </a:r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800" b="0" i="0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𝑓𝑢𝑛𝑐𝑡𝑖𝑜𝑛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</m:t>
                    </m:r>
                    <m:r>
                      <a:rPr lang="en-US" sz="800" b="0" i="1" kern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𝑏𝑎𝑠𝑒</m:t>
                    </m:r>
                    <m:d>
                      <m:dPr>
                        <m:ctrlPr>
                          <a:rPr lang="en-US" sz="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𝑖𝑛𝑝𝑢𝑡</m:t>
                        </m:r>
                        <m:r>
                          <a:rPr lang="en-US" sz="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 </m:t>
                        </m:r>
                        <m:r>
                          <a:rPr lang="en-US" sz="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𝑎𝑟𝑔𝑠</m:t>
                        </m:r>
                      </m:e>
                    </m:d>
                  </m:oMath>
                </a14:m>
                <a:r>
                  <a:rPr lang="en-US" sz="800" i="1" kern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ahoma" pitchFamily="34" charset="0"/>
                  </a:rPr>
                  <a:t> </a:t>
                </a: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800" kern="0" dirty="0">
                    <a:solidFill>
                      <a:schemeClr val="tx1"/>
                    </a:solidFill>
                    <a:cs typeface="Tahoma" pitchFamily="34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𝑜𝑝𝑒𝑟𝑎𝑡𝑖𝑜𝑛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𝑓𝑜𝑟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𝑑𝑒𝑓𝑖𝑛𝑖𝑛𝑔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𝑡ℎ𝑒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𝑑𝑒𝑓𝑎𝑢𝑙𝑡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𝑣𝑎𝑙𝑢𝑒𝑠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</m:t>
                    </m:r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lvl="1"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𝑓𝑛𝑒𝑛𝑑</m:t>
                    </m:r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  </a:t>
                </a:r>
              </a:p>
              <a:p>
                <a:pPr lvl="1" fontAlgn="base">
                  <a:spcAft>
                    <a:spcPct val="0"/>
                  </a:spcAft>
                </a:pPr>
                <a:endParaRPr lang="en-US" sz="800" kern="0" dirty="0">
                  <a:solidFill>
                    <a:schemeClr val="accent3">
                      <a:lumMod val="25000"/>
                    </a:schemeClr>
                  </a:solidFill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         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𝑓𝑢𝑛𝑐𝑡𝑖𝑜𝑛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(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𝑜𝑢𝑡𝑝𝑢𝑡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𝑎𝑟𝑔𝑠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)=</m:t>
                    </m:r>
                    <m:r>
                      <a:rPr lang="en-US" sz="8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𝐹𝑢𝑛𝑐𝑡𝑖𝑜𝑛𝑁𝑎𝑚𝑒</m:t>
                    </m:r>
                    <m:r>
                      <a:rPr lang="en-US" sz="800" b="0" i="1" kern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1</m:t>
                    </m:r>
                    <m:d>
                      <m:dPr>
                        <m:ctrlPr>
                          <a:rPr lang="en-US" sz="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𝑖𝑛𝑝𝑢𝑡</m:t>
                        </m:r>
                        <m:r>
                          <a:rPr lang="en-US" sz="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 </m:t>
                        </m:r>
                        <m:r>
                          <a:rPr lang="en-US" sz="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𝑎𝑟𝑔𝑠</m:t>
                        </m:r>
                      </m:e>
                    </m:d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                   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𝑜𝑝𝑒𝑟𝑎𝑡𝑖𝑜𝑛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𝑓𝑜𝑟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𝑚𝑎𝑝𝑝𝑖𝑛𝑔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𝑖𝑛𝑝𝑢𝑡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𝑎𝑛𝑑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𝑜𝑢𝑡𝑝𝑢𝑡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𝑎𝑟𝑔𝑠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</m:t>
                    </m:r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</m:t>
                    </m:r>
                    <m:r>
                      <a:rPr lang="en-US" sz="8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𝑓𝑛𝑒𝑛𝑑</m:t>
                    </m:r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:endParaRPr lang="en-US" sz="8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       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𝑓𝑢𝑛𝑐𝑡𝑖𝑜𝑛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(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𝑜𝑢𝑡𝑝𝑢𝑡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𝑎𝑟𝑔𝑠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)=</m:t>
                    </m:r>
                    <m:r>
                      <a:rPr lang="en-US" sz="800" i="1" ker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𝐹𝑢𝑛𝑐𝑡𝑖𝑜𝑛𝑁𝑎𝑚𝑒</m:t>
                    </m:r>
                    <m:r>
                      <a:rPr lang="en-US" sz="800" b="0" i="1" kern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2</m:t>
                    </m:r>
                    <m:d>
                      <m:dPr>
                        <m:ctrlPr>
                          <a:rPr lang="en-US" sz="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𝑖𝑛𝑝𝑢𝑡</m:t>
                        </m:r>
                        <m:r>
                          <a:rPr lang="en-US" sz="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 </m:t>
                        </m:r>
                        <m:r>
                          <a:rPr lang="en-US" sz="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𝑎𝑟𝑔𝑠</m:t>
                        </m:r>
                      </m:e>
                    </m:d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                    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𝑜𝑝𝑒𝑟𝑎𝑡𝑖𝑜𝑛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𝑓𝑜𝑟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𝑚𝑎𝑝𝑝𝑖𝑛𝑔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𝑖𝑛𝑝𝑢𝑡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𝑎𝑛𝑑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𝑜𝑢𝑡𝑝𝑢𝑡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𝑎𝑟𝑔𝑠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</m:t>
                    </m:r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        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𝑓𝑛𝑒𝑛𝑑</m:t>
                    </m:r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csend</a:t>
                </a:r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2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latin typeface="Tahoma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latin typeface="Tahoma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25000"/>
                    </a:schemeClr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4122088-260B-803D-F3A6-5AA1D21283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7" y="616063"/>
                <a:ext cx="4074394" cy="40111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6EA9B08B-DB6C-CC72-66C9-64250D8734B6}"/>
              </a:ext>
            </a:extLst>
          </p:cNvPr>
          <p:cNvSpPr/>
          <p:nvPr/>
        </p:nvSpPr>
        <p:spPr>
          <a:xfrm>
            <a:off x="4684567" y="111293"/>
            <a:ext cx="407439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Class </a:t>
            </a:r>
            <a:r>
              <a:rPr lang="en-US" sz="12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(Example)</a:t>
            </a:r>
            <a:r>
              <a:rPr lang="en-US" sz="24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endParaRPr lang="en-US" sz="2400" b="1" cap="none" spc="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2E8FA4A-85DB-376A-B087-030D758126F6}"/>
                  </a:ext>
                </a:extLst>
              </p:cNvPr>
              <p:cNvSpPr/>
              <p:nvPr/>
            </p:nvSpPr>
            <p:spPr>
              <a:xfrm>
                <a:off x="4572000" y="616062"/>
                <a:ext cx="4074394" cy="4011141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c</a:t>
                </a:r>
                <a:r>
                  <a:rPr kumimoji="0" lang="en-US" sz="1200" b="0" i="1" u="none" strike="noStrike" kern="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2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Tahoma" pitchFamily="34" charset="0"/>
                  </a:rPr>
                  <a:t>lass  </a:t>
                </a:r>
                <a:r>
                  <a:rPr kumimoji="0" lang="en-US" sz="12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7635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Tahoma" pitchFamily="34" charset="0"/>
                  </a:rPr>
                  <a:t>athematic() </a:t>
                </a:r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800" b="0" i="0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𝑓𝑢𝑛𝑐𝑡𝑖𝑜𝑛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</m:t>
                    </m:r>
                    <m:r>
                      <a:rPr lang="en-US" sz="800" b="0" i="1" kern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𝑏𝑎𝑠𝑒</m:t>
                    </m:r>
                    <m:d>
                      <m:dPr>
                        <m:ctrlPr>
                          <a:rPr lang="en-US" sz="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𝑚𝑒𝑎𝑛</m:t>
                        </m:r>
                        <m:r>
                          <a:rPr lang="en-US" sz="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,</m:t>
                        </m:r>
                        <m:r>
                          <a:rPr lang="en-US" sz="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𝑚𝑒𝑑𝑖𝑎𝑛</m:t>
                        </m:r>
                        <m:r>
                          <a:rPr lang="en-US" sz="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,</m:t>
                        </m:r>
                        <m:r>
                          <a:rPr lang="en-US" sz="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𝑠𝑡𝑑</m:t>
                        </m:r>
                      </m:e>
                    </m:d>
                  </m:oMath>
                </a14:m>
                <a:r>
                  <a:rPr lang="en-US" sz="800" i="1" kern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ahoma" pitchFamily="34" charset="0"/>
                  </a:rPr>
                  <a:t> </a:t>
                </a: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800" kern="0" dirty="0">
                    <a:solidFill>
                      <a:schemeClr val="tx1"/>
                    </a:solidFill>
                    <a:cs typeface="Tahoma" pitchFamily="34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𝑏𝑎𝑠𝑒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.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𝑚𝑒𝑎𝑛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𝑚𝑒𝑎𝑛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</m:t>
                    </m:r>
                  </m:oMath>
                </a14:m>
                <a:endParaRPr lang="en-US" sz="800" b="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800" b="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𝑏𝑎𝑠𝑒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.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𝑚𝑒𝑑𝑖𝑎𝑛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𝑚𝑒𝑑𝑖𝑎𝑛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</m:t>
                    </m:r>
                  </m:oMath>
                </a14:m>
                <a:endParaRPr lang="en-US" sz="800" kern="0" dirty="0">
                  <a:solidFill>
                    <a:schemeClr val="tx1"/>
                  </a:solidFill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:r>
                  <a:rPr lang="en-US" sz="800" kern="0" dirty="0">
                    <a:solidFill>
                      <a:schemeClr val="tx1"/>
                    </a:solidFill>
                    <a:cs typeface="Tahoma" pitchFamily="34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𝑏𝑎𝑠𝑒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.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𝑠𝑡𝑑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𝑠𝑡𝑑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;</m:t>
                    </m:r>
                  </m:oMath>
                </a14:m>
                <a:r>
                  <a:rPr lang="en-US" sz="800" kern="0" dirty="0">
                    <a:solidFill>
                      <a:schemeClr val="tx1"/>
                    </a:solidFill>
                    <a:cs typeface="Tahoma" pitchFamily="34" charset="0"/>
                  </a:rPr>
                  <a:t> </a:t>
                </a:r>
                <a:endParaRPr lang="en-US" sz="800" kern="0" dirty="0">
                  <a:solidFill>
                    <a:schemeClr val="accent3">
                      <a:lumMod val="25000"/>
                    </a:schemeClr>
                  </a:solidFill>
                  <a:cs typeface="Tahoma" pitchFamily="34" charset="0"/>
                </a:endParaRPr>
              </a:p>
              <a:p>
                <a:pPr lvl="1"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𝑓𝑛𝑒𝑛𝑑</m:t>
                    </m:r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  </a:t>
                </a:r>
              </a:p>
              <a:p>
                <a:pPr lvl="1" fontAlgn="base">
                  <a:spcAft>
                    <a:spcPct val="0"/>
                  </a:spcAft>
                </a:pPr>
                <a:endParaRPr lang="en-US" sz="800" kern="0" dirty="0">
                  <a:solidFill>
                    <a:schemeClr val="accent3">
                      <a:lumMod val="25000"/>
                    </a:schemeClr>
                  </a:solidFill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         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𝑓𝑢𝑛𝑐𝑡𝑖𝑜𝑛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(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𝐵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1,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𝐵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2)=</m:t>
                    </m:r>
                    <m:r>
                      <a:rPr lang="en-US" sz="800" b="0" i="1" kern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𝑃𝑙𝑢𝑠𝑀𝑖𝑛𝑢𝑠</m:t>
                    </m:r>
                    <m:d>
                      <m:dPr>
                        <m:ctrlPr>
                          <a:rPr lang="en-US" sz="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8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                    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𝐵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1=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1+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2;</m:t>
                    </m:r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                     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𝐵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2=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1−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2;</m:t>
                    </m:r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</m:t>
                    </m:r>
                    <m:r>
                      <a:rPr lang="en-US" sz="8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𝑓𝑛𝑒𝑛𝑑</m:t>
                    </m:r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:endParaRPr lang="en-US" sz="800" kern="0" dirty="0">
                  <a:solidFill>
                    <a:schemeClr val="accent3">
                      <a:lumMod val="25000"/>
                    </a:schemeClr>
                  </a:solidFill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       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𝑓𝑢𝑛𝑐𝑡𝑖𝑜𝑛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(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𝐵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1,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𝐵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2)=</m:t>
                    </m:r>
                    <m:r>
                      <a:rPr lang="en-US" sz="800" b="0" i="1" kern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𝑀𝑢𝑙𝑡𝑖𝐷𝑖𝑣𝑖𝑑𝑒</m:t>
                    </m:r>
                    <m:d>
                      <m:dPr>
                        <m:ctrlPr>
                          <a:rPr lang="en-US" sz="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                    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𝐵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1=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1∗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2;</m:t>
                    </m:r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                    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𝐵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2=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1/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2;</m:t>
                    </m:r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𝑓𝑛𝑒𝑛𝑑</m:t>
                    </m:r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:endParaRPr lang="en-US" sz="800" kern="0" dirty="0">
                  <a:solidFill>
                    <a:schemeClr val="accent3">
                      <a:lumMod val="25000"/>
                    </a:schemeClr>
                  </a:solidFill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       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𝑓𝑢𝑛𝑐𝑡𝑖𝑜𝑛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𝑍</m:t>
                    </m:r>
                    <m:r>
                      <a:rPr lang="en-US" sz="800" b="0" i="1" kern="0" smtClea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</m:t>
                    </m:r>
                    <m:r>
                      <a:rPr lang="en-US" sz="800" b="0" i="1" kern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𝑃𝐷𝐹</m:t>
                    </m:r>
                    <m:d>
                      <m:dPr>
                        <m:ctrlPr>
                          <a:rPr lang="en-US" sz="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</m:ctrlPr>
                      </m:dPr>
                      <m:e>
                        <m:r>
                          <a:rPr lang="en-US" sz="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ahoma" pitchFamily="34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                     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𝑍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=(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−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𝑏𝑎𝑠𝑒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.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𝑚𝑒𝑎𝑛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)/(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𝑏𝑎𝑠𝑒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.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𝑠𝑡𝑑</m:t>
                    </m:r>
                    <m:r>
                      <a:rPr lang="en-US" sz="8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)</m:t>
                    </m:r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;</a:t>
                </a: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                     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𝐵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2=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1/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𝐴</m:t>
                    </m:r>
                    <m:r>
                      <a:rPr lang="en-US" sz="8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2;</m:t>
                    </m:r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                   </m:t>
                    </m:r>
                    <m:r>
                      <a:rPr lang="en-US" sz="800" i="1" kern="0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cs typeface="Tahoma" pitchFamily="34" charset="0"/>
                      </a:rPr>
                      <m:t>𝑓𝑛𝑒𝑛𝑑</m:t>
                    </m:r>
                  </m:oMath>
                </a14:m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</a:p>
              <a:p>
                <a:pPr fontAlgn="base">
                  <a:spcAft>
                    <a:spcPct val="0"/>
                  </a:spcAft>
                </a:pPr>
                <a:endParaRPr lang="en-US" sz="800" kern="0" dirty="0">
                  <a:solidFill>
                    <a:schemeClr val="accent3">
                      <a:lumMod val="25000"/>
                    </a:schemeClr>
                  </a:solidFill>
                  <a:cs typeface="Tahoma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r>
                  <a:rPr lang="en-US" sz="800" kern="0" dirty="0">
                    <a:solidFill>
                      <a:schemeClr val="accent3">
                        <a:lumMod val="25000"/>
                      </a:schemeClr>
                    </a:solidFill>
                    <a:cs typeface="Tahoma" pitchFamily="34" charset="0"/>
                  </a:rPr>
                  <a:t> </a:t>
                </a:r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sz="1200" i="1" kern="0" dirty="0">
                  <a:solidFill>
                    <a:schemeClr val="accent3">
                      <a:lumMod val="25000"/>
                    </a:schemeClr>
                  </a:solidFill>
                  <a:latin typeface="Cambria Math" panose="02040503050406030204" pitchFamily="18" charset="0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1200" i="1" kern="0" dirty="0">
                    <a:solidFill>
                      <a:schemeClr val="accent3">
                        <a:lumMod val="25000"/>
                      </a:schemeClr>
                    </a:solidFill>
                    <a:latin typeface="Cambria Math" panose="02040503050406030204" pitchFamily="18" charset="0"/>
                    <a:cs typeface="Tahoma" pitchFamily="34" charset="0"/>
                  </a:rPr>
                  <a:t>      csend</a:t>
                </a:r>
                <a:endPara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2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latin typeface="Tahoma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sz="1200" kern="0" dirty="0">
                  <a:solidFill>
                    <a:schemeClr val="accent3">
                      <a:lumMod val="25000"/>
                    </a:schemeClr>
                  </a:solidFill>
                  <a:latin typeface="Tahoma"/>
                  <a:cs typeface="Tahoma" pitchFamily="34" charset="0"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25000"/>
                    </a:schemeClr>
                  </a:solidFill>
                  <a:effectLst/>
                  <a:uLnTx/>
                  <a:uFillTx/>
                  <a:latin typeface="Tahoma"/>
                  <a:ea typeface="+mn-ea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2E8FA4A-85DB-376A-B087-030D758126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616062"/>
                <a:ext cx="4074394" cy="40111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1114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5B70A-09BE-DCFC-235C-5F4BC6EB9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EE4B87-08F2-472F-D430-A355DB2B67AC}"/>
              </a:ext>
            </a:extLst>
          </p:cNvPr>
          <p:cNvSpPr/>
          <p:nvPr/>
        </p:nvSpPr>
        <p:spPr>
          <a:xfrm>
            <a:off x="0" y="4758267"/>
            <a:ext cx="9144000" cy="38523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D39149-30F5-4540-94B3-D6728F74495C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C37268-FD47-2DB3-F3CE-DC3187B5765B}"/>
              </a:ext>
            </a:extLst>
          </p:cNvPr>
          <p:cNvSpPr/>
          <p:nvPr/>
        </p:nvSpPr>
        <p:spPr>
          <a:xfrm>
            <a:off x="129309" y="2110085"/>
            <a:ext cx="895746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Sanity Test</a:t>
            </a:r>
          </a:p>
          <a:p>
            <a:pPr algn="ctr"/>
            <a:r>
              <a:rPr lang="en-US" sz="12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(Primitives </a:t>
            </a:r>
            <a:r>
              <a:rPr lang="en-US" sz="12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en-US" sz="12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Operators – Loop)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716A8-C0D3-3134-85A0-2CE0119147C7}"/>
              </a:ext>
            </a:extLst>
          </p:cNvPr>
          <p:cNvSpPr txBox="1"/>
          <p:nvPr/>
        </p:nvSpPr>
        <p:spPr>
          <a:xfrm>
            <a:off x="69272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A4458-493C-CF61-5675-9B77604ECEE1}"/>
              </a:ext>
            </a:extLst>
          </p:cNvPr>
          <p:cNvSpPr txBox="1"/>
          <p:nvPr/>
        </p:nvSpPr>
        <p:spPr>
          <a:xfrm>
            <a:off x="5985164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India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2815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556EA-BA24-3563-C394-F56CB7305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174A2C-86D0-318C-B5DA-0D911A5380EE}"/>
              </a:ext>
            </a:extLst>
          </p:cNvPr>
          <p:cNvSpPr/>
          <p:nvPr/>
        </p:nvSpPr>
        <p:spPr>
          <a:xfrm>
            <a:off x="0" y="4758267"/>
            <a:ext cx="9144000" cy="38523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EA596E-E103-234D-955F-65CB33C3C9F3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B1C2EC-C5E8-9E8D-4679-3B37E763A538}"/>
              </a:ext>
            </a:extLst>
          </p:cNvPr>
          <p:cNvSpPr/>
          <p:nvPr/>
        </p:nvSpPr>
        <p:spPr>
          <a:xfrm>
            <a:off x="195773" y="153009"/>
            <a:ext cx="875245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Evaluation Method: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58EA11-B969-8815-1C43-97D24F483039}"/>
                  </a:ext>
                </a:extLst>
              </p:cNvPr>
              <p:cNvSpPr txBox="1"/>
              <p:nvPr/>
            </p:nvSpPr>
            <p:spPr>
              <a:xfrm>
                <a:off x="251191" y="821729"/>
                <a:ext cx="8560300" cy="31393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sz="1200" b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Required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US" sz="12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"test.upi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“ </m:t>
                    </m:r>
                  </m:oMath>
                </a14:m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files are written to</a:t>
                </a:r>
                <a:r>
                  <a:rPr kumimoji="0" lang="en-US" sz="1200" b="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evaluate </a:t>
                </a:r>
                <a:r>
                  <a:rPr lang="en-US" sz="1200" kern="0" dirty="0">
                    <a:solidFill>
                      <a:srgbClr val="000000"/>
                    </a:solidFill>
                  </a:rPr>
                  <a:t>the required combination </a:t>
                </a:r>
                <a:r>
                  <a:rPr kumimoji="0" lang="en-US" sz="1200" b="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of loops, operators and primitives. </a:t>
                </a: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lang="en-US" sz="1200" kern="0" dirty="0">
                  <a:solidFill>
                    <a:srgbClr val="0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lang="en-US" sz="1200" kern="0" dirty="0">
                  <a:solidFill>
                    <a:srgbClr val="0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sz="1200" b="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Successful execution in compiler tool chain are denoted by “</a:t>
                </a:r>
                <a:r>
                  <a:rPr kumimoji="0" lang="en-US" sz="1200" b="0" i="0" u="none" strike="noStrike" kern="0" cap="none" spc="0" normalizeH="0" noProof="0" dirty="0">
                    <a:ln>
                      <a:noFill/>
                    </a:ln>
                    <a:solidFill>
                      <a:srgbClr val="007635"/>
                    </a:solidFill>
                    <a:effectLst/>
                    <a:uLnTx/>
                    <a:uFillTx/>
                  </a:rPr>
                  <a:t>1</a:t>
                </a:r>
                <a:r>
                  <a:rPr kumimoji="0" lang="en-US" sz="1200" b="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” and failing run is denoted by “</a:t>
                </a:r>
                <a:r>
                  <a:rPr kumimoji="0" lang="en-US" sz="1200" b="0" i="0" u="none" strike="noStrike" kern="0" cap="none" spc="0" normalizeH="0" noProof="0" dirty="0">
                    <a:ln>
                      <a:noFill/>
                    </a:ln>
                    <a:solidFill>
                      <a:srgbClr val="007635"/>
                    </a:solidFill>
                    <a:effectLst/>
                    <a:uLnTx/>
                    <a:uFillTx/>
                  </a:rPr>
                  <a:t>0</a:t>
                </a:r>
                <a:r>
                  <a:rPr kumimoji="0" lang="en-US" sz="1200" b="0" i="0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”. </a:t>
                </a: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lang="en-US" sz="1200" kern="0" dirty="0">
                  <a:solidFill>
                    <a:srgbClr val="0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sz="1200" kern="0" dirty="0">
                    <a:solidFill>
                      <a:srgbClr val="000000"/>
                    </a:solidFill>
                  </a:rPr>
                  <a:t>This part is not supported with “assertion” and “exception” operators. This is intentional to test the robustness of compiler. </a:t>
                </a: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lang="en-US" sz="1200" kern="0" dirty="0">
                  <a:solidFill>
                    <a:srgbClr val="0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sz="1200" kern="0" dirty="0">
                    <a:solidFill>
                      <a:srgbClr val="000000"/>
                    </a:solidFill>
                  </a:rPr>
                  <a:t>Branches and loops are evaluated until the horizon/never ending loop to ensure the compiler stability. </a:t>
                </a: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lang="en-US" sz="1200" kern="0" dirty="0">
                  <a:solidFill>
                    <a:srgbClr val="0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sz="1200" kern="0" dirty="0">
                    <a:solidFill>
                      <a:srgbClr val="000000"/>
                    </a:solidFill>
                  </a:rPr>
                  <a:t>Branches and loops with horizon are tested by the metrics of time and depiction over computational growth (with maximum possible number)</a:t>
                </a:r>
                <a:endParaRPr kumimoji="0" lang="en-US" sz="1200" b="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lang="en-US" sz="1200" kern="0" dirty="0">
                  <a:solidFill>
                    <a:srgbClr val="000000"/>
                  </a:solidFill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R="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58EA11-B969-8815-1C43-97D24F483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91" y="821729"/>
                <a:ext cx="8560300" cy="3139321"/>
              </a:xfrm>
              <a:prstGeom prst="rect">
                <a:avLst/>
              </a:prstGeom>
              <a:blipFill>
                <a:blip r:embed="rId4"/>
                <a:stretch>
                  <a:fillRect l="-997" t="-1553" r="-1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94DCDD8-9D09-E128-D47D-D06D23D4D355}"/>
              </a:ext>
            </a:extLst>
          </p:cNvPr>
          <p:cNvSpPr txBox="1"/>
          <p:nvPr/>
        </p:nvSpPr>
        <p:spPr>
          <a:xfrm>
            <a:off x="69272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B6BC06-90D9-5877-502A-5993CC1BE8AD}"/>
              </a:ext>
            </a:extLst>
          </p:cNvPr>
          <p:cNvSpPr txBox="1"/>
          <p:nvPr/>
        </p:nvSpPr>
        <p:spPr>
          <a:xfrm>
            <a:off x="5985164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India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0916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590EF-E743-0420-6A5F-4A3D6DA9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BA18B5-5FE4-C7FD-C72F-E76E4822074E}"/>
              </a:ext>
            </a:extLst>
          </p:cNvPr>
          <p:cNvSpPr/>
          <p:nvPr/>
        </p:nvSpPr>
        <p:spPr>
          <a:xfrm>
            <a:off x="0" y="4758267"/>
            <a:ext cx="9144000" cy="38523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925BDB-D912-99A3-4279-91A18D4A3A35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9F467D-E583-DA70-19DF-0D88A9527BF2}"/>
              </a:ext>
            </a:extLst>
          </p:cNvPr>
          <p:cNvSpPr/>
          <p:nvPr/>
        </p:nvSpPr>
        <p:spPr>
          <a:xfrm>
            <a:off x="233214" y="68911"/>
            <a:ext cx="875245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Sanity Test </a:t>
            </a:r>
            <a:r>
              <a:rPr lang="en-US" sz="12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(Primitives over primitives)</a:t>
            </a:r>
            <a:r>
              <a:rPr lang="en-US" sz="24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AB966F3-7276-E8B1-8AA0-C1CA8403D8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5975424"/>
                  </p:ext>
                </p:extLst>
              </p:nvPr>
            </p:nvGraphicFramePr>
            <p:xfrm>
              <a:off x="391244" y="590550"/>
              <a:ext cx="8142084" cy="3962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2338">
                      <a:extLst>
                        <a:ext uri="{9D8B030D-6E8A-4147-A177-3AD203B41FA5}">
                          <a16:colId xmlns:a16="http://schemas.microsoft.com/office/drawing/2014/main" val="750869235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4286263899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1359925824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1032937938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2248716935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3320555092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829135622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2365573466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3122122653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4215644281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39897341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2539585171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861848711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463722642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3400694691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2922136404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3243359959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1765527441"/>
                        </a:ext>
                      </a:extLst>
                    </a:gridCol>
                  </a:tblGrid>
                  <a:tr h="116851"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-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*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sqrt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cbrt</a:t>
                          </a:r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</a:t>
                          </a:r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cube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^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//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%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oMath>
                            </m:oMathPara>
                          </a14:m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sSub>
                                  <m:sSubPr>
                                    <m:ctrlP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8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𝒇𝒓𝒂𝒄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8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𝒅𝒆𝒄𝒊</m:t>
                                </m:r>
                              </m:oMath>
                            </m:oMathPara>
                          </a14:m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𝒅𝒆𝒄𝒊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8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𝒇𝒓𝒂𝒄</m:t>
                                </m:r>
                              </m:oMath>
                            </m:oMathPara>
                          </a14:m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6777520"/>
                      </a:ext>
                    </a:extLst>
                  </a:tr>
                  <a:tr h="116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88788419"/>
                      </a:ext>
                    </a:extLst>
                  </a:tr>
                  <a:tr h="116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-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0249529"/>
                      </a:ext>
                    </a:extLst>
                  </a:tr>
                  <a:tr h="116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*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81044707"/>
                      </a:ext>
                    </a:extLst>
                  </a:tr>
                  <a:tr h="116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6664032"/>
                      </a:ext>
                    </a:extLst>
                  </a:tr>
                  <a:tr h="116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Sqrt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5504154"/>
                      </a:ext>
                    </a:extLst>
                  </a:tr>
                  <a:tr h="116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Cbrt</a:t>
                          </a:r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03824909"/>
                      </a:ext>
                    </a:extLst>
                  </a:tr>
                  <a:tr h="116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</a:t>
                          </a:r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262155"/>
                      </a:ext>
                    </a:extLst>
                  </a:tr>
                  <a:tr h="116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Cube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20913616"/>
                      </a:ext>
                    </a:extLst>
                  </a:tr>
                  <a:tr h="116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^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5951704"/>
                      </a:ext>
                    </a:extLst>
                  </a:tr>
                  <a:tr h="116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8184100"/>
                      </a:ext>
                    </a:extLst>
                  </a:tr>
                  <a:tr h="116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//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2472243"/>
                      </a:ext>
                    </a:extLst>
                  </a:tr>
                  <a:tr h="116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%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0481076"/>
                      </a:ext>
                    </a:extLst>
                  </a:tr>
                  <a:tr h="11685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oMath>
                            </m:oMathPara>
                          </a14:m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42298732"/>
                      </a:ext>
                    </a:extLst>
                  </a:tr>
                  <a:tr h="11685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84688189"/>
                      </a:ext>
                    </a:extLst>
                  </a:tr>
                  <a:tr h="20031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sSub>
                                  <m:sSubPr>
                                    <m:ctrlPr>
                                      <a:rPr lang="en-US" sz="4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sz="4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4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4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481098"/>
                      </a:ext>
                    </a:extLst>
                  </a:tr>
                  <a:tr h="20031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𝒇𝒓𝒂𝒄</m:t>
                                </m:r>
                                <m:r>
                                  <a:rPr lang="en-US" sz="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4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𝒅𝒆𝒄𝒊</m:t>
                                </m:r>
                              </m:oMath>
                            </m:oMathPara>
                          </a14:m>
                          <a:endParaRPr lang="en-US" sz="4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2395193"/>
                      </a:ext>
                    </a:extLst>
                  </a:tr>
                  <a:tr h="20031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𝒅𝒆𝒄𝒊</m:t>
                                </m:r>
                                <m:r>
                                  <a:rPr lang="en-US" sz="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4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𝒇𝒓𝒂𝒄</m:t>
                                </m:r>
                              </m:oMath>
                            </m:oMathPara>
                          </a14:m>
                          <a:endParaRPr lang="en-US" sz="4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421127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AB966F3-7276-E8B1-8AA0-C1CA8403D8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5975424"/>
                  </p:ext>
                </p:extLst>
              </p:nvPr>
            </p:nvGraphicFramePr>
            <p:xfrm>
              <a:off x="391244" y="590550"/>
              <a:ext cx="8142084" cy="3962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2338">
                      <a:extLst>
                        <a:ext uri="{9D8B030D-6E8A-4147-A177-3AD203B41FA5}">
                          <a16:colId xmlns:a16="http://schemas.microsoft.com/office/drawing/2014/main" val="750869235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4286263899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1359925824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1032937938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2248716935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3320555092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829135622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2365573466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3122122653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4215644281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39897341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2539585171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861848711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463722642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3400694691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2922136404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3243359959"/>
                        </a:ext>
                      </a:extLst>
                    </a:gridCol>
                    <a:gridCol w="452338">
                      <a:extLst>
                        <a:ext uri="{9D8B030D-6E8A-4147-A177-3AD203B41FA5}">
                          <a16:colId xmlns:a16="http://schemas.microsoft.com/office/drawing/2014/main" val="1765527441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-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*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sqrt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cbrt</a:t>
                          </a:r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</a:t>
                          </a:r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cube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^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//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%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305405" t="-1818" r="-404054" b="-108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05405" t="-1818" r="-304054" b="-108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85333" t="-1818" r="-200000" b="-108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06757" t="-1818" r="-102703" b="-108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706757" t="-1818" r="-2703" b="-108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6777520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88788419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-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0249529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*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81044707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666403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Sqrt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15504154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Cbrt</a:t>
                          </a:r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03824909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</a:t>
                          </a:r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262155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Cube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20913616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^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55951704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8184100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//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2472243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%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0481076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351" t="-1362857" r="-1708108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4229873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351" t="-1462857" r="-1708108" b="-3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84688189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351" t="-1562857" r="-1708108" b="-2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481098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351" t="-1662857" r="-1708108" b="-1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2395193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351" t="-1762857" r="-1708108" b="-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421127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885FFC5-BE54-0167-81B9-D19C605BE9CB}"/>
              </a:ext>
            </a:extLst>
          </p:cNvPr>
          <p:cNvSpPr/>
          <p:nvPr/>
        </p:nvSpPr>
        <p:spPr>
          <a:xfrm>
            <a:off x="4442691" y="4273410"/>
            <a:ext cx="4090637" cy="256449"/>
          </a:xfrm>
          <a:prstGeom prst="roundRect">
            <a:avLst/>
          </a:prstGeom>
          <a:solidFill>
            <a:srgbClr val="92D050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Total number of checkpoint Evaluations = 17*17 = 289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C417EB-C7DD-BD61-E544-6F6E97C4964D}"/>
              </a:ext>
            </a:extLst>
          </p:cNvPr>
          <p:cNvSpPr txBox="1"/>
          <p:nvPr/>
        </p:nvSpPr>
        <p:spPr>
          <a:xfrm>
            <a:off x="69272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20637-3BD7-2C3A-8365-93C216D3894A}"/>
              </a:ext>
            </a:extLst>
          </p:cNvPr>
          <p:cNvSpPr txBox="1"/>
          <p:nvPr/>
        </p:nvSpPr>
        <p:spPr>
          <a:xfrm>
            <a:off x="5985164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India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018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66255-DB7E-B896-C1F0-A3578411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DC4634-4B51-9AD4-F728-28656BAE6BA8}"/>
              </a:ext>
            </a:extLst>
          </p:cNvPr>
          <p:cNvSpPr/>
          <p:nvPr/>
        </p:nvSpPr>
        <p:spPr>
          <a:xfrm>
            <a:off x="0" y="4758267"/>
            <a:ext cx="9144000" cy="38523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03189A-99FC-89DD-981B-04EBCFCBA00C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F90A3B-EDDF-83EA-E86C-D139EEF354D9}"/>
              </a:ext>
            </a:extLst>
          </p:cNvPr>
          <p:cNvSpPr/>
          <p:nvPr/>
        </p:nvSpPr>
        <p:spPr>
          <a:xfrm>
            <a:off x="233214" y="68911"/>
            <a:ext cx="875245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Sanity Test </a:t>
            </a:r>
            <a:r>
              <a:rPr lang="en-US" sz="12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(Binary Operator)</a:t>
            </a:r>
            <a:r>
              <a:rPr lang="en-US" sz="24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0478CEF-106D-C310-12A8-4170050475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3214" y="528932"/>
              <a:ext cx="8594441" cy="161544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904678">
                      <a:extLst>
                        <a:ext uri="{9D8B030D-6E8A-4147-A177-3AD203B41FA5}">
                          <a16:colId xmlns:a16="http://schemas.microsoft.com/office/drawing/2014/main" val="3806419363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965282393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789525047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4286045087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4160119344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922817372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4292832894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663281198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464363982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190929743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2805550467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568395399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376535856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2235712684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1743569147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732888221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474881162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516505570"/>
                        </a:ext>
                      </a:extLst>
                    </a:gridCol>
                  </a:tblGrid>
                  <a:tr h="208613"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cbrt</a:t>
                          </a:r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</a:t>
                          </a:r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cube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^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//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sSub>
                                  <m:sSubPr>
                                    <m:ctrlP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8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𝒇𝒓𝒂𝒄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8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𝒅𝒆𝒄𝒊</m:t>
                                </m:r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𝒅𝒆𝒄𝒊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8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𝒇𝒓𝒂𝒄</m:t>
                                </m:r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2384400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==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17455412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1078851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&gt;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0820921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&lt;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78131054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&gt;=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17882339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&lt;=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50356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0478CEF-106D-C310-12A8-4170050475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3214" y="528932"/>
              <a:ext cx="8594441" cy="161544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904678">
                      <a:extLst>
                        <a:ext uri="{9D8B030D-6E8A-4147-A177-3AD203B41FA5}">
                          <a16:colId xmlns:a16="http://schemas.microsoft.com/office/drawing/2014/main" val="3806419363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965282393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789525047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4286045087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4160119344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922817372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4292832894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663281198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464363982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190929743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2805550467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568395399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376535856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2235712684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1743569147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732888221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474881162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516505570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cbrt</a:t>
                          </a:r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</a:t>
                          </a:r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cube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^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//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06757" t="-1818" r="-405405" b="-39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06757" t="-1818" r="-305405" b="-39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06757" t="-1818" r="-205405" b="-39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84000" t="-1818" r="-102667" b="-39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808108" t="-1818" r="-4054" b="-39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384400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==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1745541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1078851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&gt;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0820921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&lt;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78131054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&gt;=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17882339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&lt;=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503566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B9136D24-E986-1FAC-739F-D6EE22E7E1F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7337" y="2647266"/>
              <a:ext cx="8594441" cy="204216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904678">
                      <a:extLst>
                        <a:ext uri="{9D8B030D-6E8A-4147-A177-3AD203B41FA5}">
                          <a16:colId xmlns:a16="http://schemas.microsoft.com/office/drawing/2014/main" val="3806419363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965282393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789525047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4286045087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4160119344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922817372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4292832894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663281198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464363982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190929743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2805550467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568395399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376535856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2235712684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1743569147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732888221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474881162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516505570"/>
                        </a:ext>
                      </a:extLst>
                    </a:gridCol>
                  </a:tblGrid>
                  <a:tr h="208613"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cbrt</a:t>
                          </a:r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</a:t>
                          </a:r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cube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^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//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sSub>
                                  <m:sSubPr>
                                    <m:ctrlP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8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𝒇𝒓𝒂𝒄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8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𝒅𝒆𝒄𝒊</m:t>
                                </m:r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𝒅𝒆𝒄𝒊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8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𝒇𝒓𝒂𝒄</m:t>
                                </m:r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2384400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&amp;&amp;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17455412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||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1078851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!&amp;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0820921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!|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78131054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𝒊𝒔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𝒊𝒏</m:t>
                                </m:r>
                              </m:oMath>
                            </m:oMathPara>
                          </a14:m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17882339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𝒊𝒔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𝒏𝒐𝒕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𝒊𝒏</m:t>
                                </m:r>
                              </m:oMath>
                            </m:oMathPara>
                          </a14:m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5035668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𝒊𝒔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𝒆𝒎𝒑𝒕𝒚</m:t>
                                </m:r>
                              </m:oMath>
                            </m:oMathPara>
                          </a14:m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366030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𝒊𝒔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𝒏𝒂𝒏</m:t>
                                </m:r>
                              </m:oMath>
                            </m:oMathPara>
                          </a14:m>
                          <a:endParaRPr lang="en-US" sz="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455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B9136D24-E986-1FAC-739F-D6EE22E7E1F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7337" y="2647266"/>
              <a:ext cx="8594441" cy="204216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904678">
                      <a:extLst>
                        <a:ext uri="{9D8B030D-6E8A-4147-A177-3AD203B41FA5}">
                          <a16:colId xmlns:a16="http://schemas.microsoft.com/office/drawing/2014/main" val="3806419363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965282393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789525047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4286045087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4160119344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922817372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4292832894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663281198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464363982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190929743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2805550467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568395399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376535856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2235712684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1743569147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732888221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474881162"/>
                        </a:ext>
                      </a:extLst>
                    </a:gridCol>
                    <a:gridCol w="452339">
                      <a:extLst>
                        <a:ext uri="{9D8B030D-6E8A-4147-A177-3AD203B41FA5}">
                          <a16:colId xmlns:a16="http://schemas.microsoft.com/office/drawing/2014/main" val="3516505570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cbrt</a:t>
                          </a:r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</a:t>
                          </a:r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cube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^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//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06757" t="-1818" r="-405405" b="-51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506757" t="-1818" r="-305405" b="-51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606757" t="-1818" r="-205405" b="-51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684000" t="-1818" r="-102667" b="-51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808108" t="-1818" r="-4054" b="-51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384400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&amp;&amp;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1745541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||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1078851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!&amp;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0820921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!|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78131054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71" t="-562857" r="-848993" b="-3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17882339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71" t="-662857" r="-848993" b="-2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5035668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71" t="-762857" r="-848993" b="-1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366030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671" t="-862857" r="-848993" b="-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4556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5E51E31F-E442-CEB8-CDB6-498860806537}"/>
              </a:ext>
            </a:extLst>
          </p:cNvPr>
          <p:cNvSpPr/>
          <p:nvPr/>
        </p:nvSpPr>
        <p:spPr>
          <a:xfrm>
            <a:off x="195773" y="2166652"/>
            <a:ext cx="875245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Sanity Test </a:t>
            </a:r>
            <a:r>
              <a:rPr lang="en-US" sz="12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(Logical Operator)</a:t>
            </a:r>
            <a:r>
              <a:rPr lang="en-US" sz="24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1AD8560-3784-0456-E005-66185295C7A2}"/>
              </a:ext>
            </a:extLst>
          </p:cNvPr>
          <p:cNvSpPr/>
          <p:nvPr/>
        </p:nvSpPr>
        <p:spPr>
          <a:xfrm>
            <a:off x="4737018" y="1875660"/>
            <a:ext cx="4090637" cy="256449"/>
          </a:xfrm>
          <a:prstGeom prst="roundRect">
            <a:avLst/>
          </a:prstGeom>
          <a:solidFill>
            <a:srgbClr val="92D050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Total number of checkpoint Evaluations = 17*6 = </a:t>
            </a:r>
            <a:r>
              <a:rPr lang="en-US" sz="1200" kern="0" dirty="0">
                <a:solidFill>
                  <a:schemeClr val="tx2">
                    <a:lumMod val="50000"/>
                  </a:schemeClr>
                </a:solidFill>
                <a:latin typeface="Tahoma"/>
                <a:cs typeface="Tahoma" pitchFamily="34" charset="0"/>
              </a:rPr>
              <a:t>102</a:t>
            </a:r>
            <a:endParaRPr kumimoji="0" lang="en-US" sz="120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2678962-7EDB-4EBB-962B-B813B2B1C9C2}"/>
              </a:ext>
            </a:extLst>
          </p:cNvPr>
          <p:cNvSpPr/>
          <p:nvPr/>
        </p:nvSpPr>
        <p:spPr>
          <a:xfrm>
            <a:off x="4741141" y="4432977"/>
            <a:ext cx="4090637" cy="256449"/>
          </a:xfrm>
          <a:prstGeom prst="roundRect">
            <a:avLst/>
          </a:prstGeom>
          <a:solidFill>
            <a:srgbClr val="92D050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Total number of checkpoint Evaluations = 17*8 = </a:t>
            </a:r>
            <a:r>
              <a:rPr lang="en-US" sz="1200" kern="0" dirty="0">
                <a:solidFill>
                  <a:schemeClr val="tx2">
                    <a:lumMod val="50000"/>
                  </a:schemeClr>
                </a:solidFill>
                <a:latin typeface="Tahoma"/>
                <a:cs typeface="Tahoma" pitchFamily="34" charset="0"/>
              </a:rPr>
              <a:t>136</a:t>
            </a:r>
            <a:endParaRPr kumimoji="0" lang="en-US" sz="120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F2D6D5-F8C7-0AFD-7475-69098B0E2986}"/>
              </a:ext>
            </a:extLst>
          </p:cNvPr>
          <p:cNvSpPr txBox="1"/>
          <p:nvPr/>
        </p:nvSpPr>
        <p:spPr>
          <a:xfrm>
            <a:off x="69272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327FE4-5E41-91EB-5317-423FE4EDD2F0}"/>
              </a:ext>
            </a:extLst>
          </p:cNvPr>
          <p:cNvSpPr txBox="1"/>
          <p:nvPr/>
        </p:nvSpPr>
        <p:spPr>
          <a:xfrm>
            <a:off x="5985164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India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6964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0ABA4-B54A-7C56-772B-DB197FFF6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F5EC78-6BA3-5255-7C01-61CDAAB6A13F}"/>
              </a:ext>
            </a:extLst>
          </p:cNvPr>
          <p:cNvSpPr/>
          <p:nvPr/>
        </p:nvSpPr>
        <p:spPr>
          <a:xfrm>
            <a:off x="0" y="4758267"/>
            <a:ext cx="9144000" cy="38523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A2A566-B8DA-5C59-FE8D-A4650D77791B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914F1F-6B75-B072-6165-99554414689E}"/>
              </a:ext>
            </a:extLst>
          </p:cNvPr>
          <p:cNvSpPr/>
          <p:nvPr/>
        </p:nvSpPr>
        <p:spPr>
          <a:xfrm>
            <a:off x="237337" y="142088"/>
            <a:ext cx="875245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Sanity Test </a:t>
            </a:r>
            <a:r>
              <a:rPr lang="en-US" sz="12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(Data Conversion Operator)</a:t>
            </a:r>
            <a:r>
              <a:rPr lang="en-US" sz="24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E09DDFA-8086-AC63-501D-E0FB556C14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4966828"/>
                  </p:ext>
                </p:extLst>
              </p:nvPr>
            </p:nvGraphicFramePr>
            <p:xfrm>
              <a:off x="233213" y="700122"/>
              <a:ext cx="8684499" cy="182880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387769">
                      <a:extLst>
                        <a:ext uri="{9D8B030D-6E8A-4147-A177-3AD203B41FA5}">
                          <a16:colId xmlns:a16="http://schemas.microsoft.com/office/drawing/2014/main" val="3806419363"/>
                        </a:ext>
                      </a:extLst>
                    </a:gridCol>
                    <a:gridCol w="349130">
                      <a:extLst>
                        <a:ext uri="{9D8B030D-6E8A-4147-A177-3AD203B41FA5}">
                          <a16:colId xmlns:a16="http://schemas.microsoft.com/office/drawing/2014/main" val="965282393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789525047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4286045087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4160119344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922817372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4292832894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663281198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464363982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190929743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2805550467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568395399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376535856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2235712684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1743569147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732888221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474881162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516505570"/>
                        </a:ext>
                      </a:extLst>
                    </a:gridCol>
                  </a:tblGrid>
                  <a:tr h="208613"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cbrt</a:t>
                          </a:r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</a:t>
                          </a:r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cube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^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//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sSub>
                                  <m:sSubPr>
                                    <m:ctrlP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8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𝒇𝒓𝒂𝒄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8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𝒅𝒆𝒄𝒊</m:t>
                                </m:r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𝒅𝒆𝒄𝒊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8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𝒇𝒓𝒂𝒄</m:t>
                                </m:r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2384400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𝑖𝑛𝑡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17455412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𝑓𝑙𝑜𝑎𝑡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1078851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𝑠𝑡𝑟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0820921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𝑟𝑜𝑢𝑛𝑑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𝑟𝑒𝑞𝑢𝑖𝑟𝑒𝑑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𝑑𝑒𝑐𝑖𝑚𝑎𝑙𝑠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78131054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𝑟𝑎𝑑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𝑑𝑒𝑐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()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17882339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𝑑𝑒𝑐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𝑟𝑎𝑑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()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5035668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| |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944503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E09DDFA-8086-AC63-501D-E0FB556C14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4966828"/>
                  </p:ext>
                </p:extLst>
              </p:nvPr>
            </p:nvGraphicFramePr>
            <p:xfrm>
              <a:off x="233213" y="700122"/>
              <a:ext cx="8684499" cy="182880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387769">
                      <a:extLst>
                        <a:ext uri="{9D8B030D-6E8A-4147-A177-3AD203B41FA5}">
                          <a16:colId xmlns:a16="http://schemas.microsoft.com/office/drawing/2014/main" val="3806419363"/>
                        </a:ext>
                      </a:extLst>
                    </a:gridCol>
                    <a:gridCol w="349130">
                      <a:extLst>
                        <a:ext uri="{9D8B030D-6E8A-4147-A177-3AD203B41FA5}">
                          <a16:colId xmlns:a16="http://schemas.microsoft.com/office/drawing/2014/main" val="965282393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789525047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4286045087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4160119344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922817372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4292832894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663281198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464363982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190929743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2805550467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568395399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376535856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2235712684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1743569147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732888221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474881162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516505570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cbrt</a:t>
                          </a:r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</a:t>
                          </a:r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cube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^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//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07042" t="-1818" r="-407042" b="-45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07042" t="-1818" r="-307042" b="-45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707042" t="-1818" r="-207042" b="-45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781944" t="-1818" r="-104167" b="-45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08451" t="-1818" r="-5634" b="-45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384400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39" t="-160000" r="-526754" b="-6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1745541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39" t="-260000" r="-526754" b="-5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1078851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39" t="-350000" r="-526754" b="-39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0820921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39" t="-462857" r="-526754" b="-3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78131054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39" t="-562857" r="-526754" b="-2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17882339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39" t="-662857" r="-526754" b="-1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5035668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39" t="-762857" r="-526754" b="-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944503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68085F6F-56F3-C5F5-16BB-D05C1D6CD7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1645933"/>
                  </p:ext>
                </p:extLst>
              </p:nvPr>
            </p:nvGraphicFramePr>
            <p:xfrm>
              <a:off x="271315" y="3527244"/>
              <a:ext cx="8684499" cy="97536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387769">
                      <a:extLst>
                        <a:ext uri="{9D8B030D-6E8A-4147-A177-3AD203B41FA5}">
                          <a16:colId xmlns:a16="http://schemas.microsoft.com/office/drawing/2014/main" val="3806419363"/>
                        </a:ext>
                      </a:extLst>
                    </a:gridCol>
                    <a:gridCol w="349130">
                      <a:extLst>
                        <a:ext uri="{9D8B030D-6E8A-4147-A177-3AD203B41FA5}">
                          <a16:colId xmlns:a16="http://schemas.microsoft.com/office/drawing/2014/main" val="965282393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789525047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4286045087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4160119344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922817372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4292832894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663281198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464363982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190929743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2805550467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568395399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376535856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2235712684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1743569147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732888221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474881162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516505570"/>
                        </a:ext>
                      </a:extLst>
                    </a:gridCol>
                  </a:tblGrid>
                  <a:tr h="208613"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cbrt</a:t>
                          </a:r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</a:t>
                          </a:r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cube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^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//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sSub>
                                  <m:sSubPr>
                                    <m:ctrlP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sz="8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8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𝒇𝒓𝒂𝒄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8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𝒅𝒆𝒄𝒊</m:t>
                                </m:r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𝒅𝒆𝒄𝒊</m:t>
                                </m:r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8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𝒇𝒓𝒂𝒄</m:t>
                                </m:r>
                              </m:oMath>
                            </m:oMathPara>
                          </a14:m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2384400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 &amp; 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𝑛𝑜𝑡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𝑙𝑜𝑜𝑝</m:t>
                              </m:r>
                            </m:oMath>
                          </a14:m>
                          <a:r>
                            <a:rPr lang="en-US" sz="8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17455412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𝑙𝑜𝑜𝑝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1078851"/>
                      </a:ext>
                    </a:extLst>
                  </a:tr>
                  <a:tr h="2086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𝑤ℎ𝑖𝑙𝑒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&amp;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𝑤ℎ𝑖𝑙𝑒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𝑛𝑜𝑡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𝑙𝑜𝑜𝑝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08209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68085F6F-56F3-C5F5-16BB-D05C1D6CD7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1645933"/>
                  </p:ext>
                </p:extLst>
              </p:nvPr>
            </p:nvGraphicFramePr>
            <p:xfrm>
              <a:off x="271315" y="3527244"/>
              <a:ext cx="8684499" cy="97536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387769">
                      <a:extLst>
                        <a:ext uri="{9D8B030D-6E8A-4147-A177-3AD203B41FA5}">
                          <a16:colId xmlns:a16="http://schemas.microsoft.com/office/drawing/2014/main" val="3806419363"/>
                        </a:ext>
                      </a:extLst>
                    </a:gridCol>
                    <a:gridCol w="349130">
                      <a:extLst>
                        <a:ext uri="{9D8B030D-6E8A-4147-A177-3AD203B41FA5}">
                          <a16:colId xmlns:a16="http://schemas.microsoft.com/office/drawing/2014/main" val="965282393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789525047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4286045087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4160119344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922817372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4292832894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663281198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464363982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190929743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2805550467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568395399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376535856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2235712684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1743569147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732888221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474881162"/>
                        </a:ext>
                      </a:extLst>
                    </a:gridCol>
                    <a:gridCol w="434225">
                      <a:extLst>
                        <a:ext uri="{9D8B030D-6E8A-4147-A177-3AD203B41FA5}">
                          <a16:colId xmlns:a16="http://schemas.microsoft.com/office/drawing/2014/main" val="3516505570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+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cbrt</a:t>
                          </a:r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 err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sqr</a:t>
                          </a:r>
                          <a:endParaRPr lang="en-US" sz="8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cube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^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!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//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86111" t="-1818" r="-4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608451" t="-1818" r="-30563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708451" t="-1818" r="-20563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783333" t="-1818" r="-10277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909859" t="-1818" r="-4225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384400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39" t="-155556" r="-526754" b="-2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1745541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39" t="-262857" r="-526754" b="-11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1078851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39" t="-362857" r="-526754" b="-1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>
                              <a:solidFill>
                                <a:srgbClr val="007635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08209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85D7227F-F617-A1AE-3DAF-8A4365D28873}"/>
              </a:ext>
            </a:extLst>
          </p:cNvPr>
          <p:cNvSpPr/>
          <p:nvPr/>
        </p:nvSpPr>
        <p:spPr>
          <a:xfrm>
            <a:off x="237337" y="2966434"/>
            <a:ext cx="875245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Sanity Test </a:t>
            </a:r>
            <a:r>
              <a:rPr lang="en-US" sz="12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en-US" sz="1200" b="1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Loop </a:t>
            </a:r>
            <a:r>
              <a:rPr lang="en-US" sz="12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Operator)</a:t>
            </a:r>
            <a:r>
              <a:rPr lang="en-US" sz="24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F4BF982-AD49-2BA8-409F-4293A8FB0530}"/>
              </a:ext>
            </a:extLst>
          </p:cNvPr>
          <p:cNvSpPr/>
          <p:nvPr/>
        </p:nvSpPr>
        <p:spPr>
          <a:xfrm>
            <a:off x="4827075" y="2268708"/>
            <a:ext cx="4090637" cy="256449"/>
          </a:xfrm>
          <a:prstGeom prst="roundRect">
            <a:avLst/>
          </a:prstGeom>
          <a:solidFill>
            <a:srgbClr val="92D050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Total number of checkpoint Evaluations = 18*6 = </a:t>
            </a:r>
            <a:r>
              <a:rPr lang="en-US" sz="1200" kern="0" dirty="0">
                <a:solidFill>
                  <a:schemeClr val="tx2">
                    <a:lumMod val="50000"/>
                  </a:schemeClr>
                </a:solidFill>
                <a:latin typeface="Tahoma"/>
                <a:cs typeface="Tahoma" pitchFamily="34" charset="0"/>
              </a:rPr>
              <a:t>108</a:t>
            </a:r>
            <a:endParaRPr kumimoji="0" lang="en-US" sz="120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E5663F8-02DE-E1A8-33BF-E33460976F1C}"/>
              </a:ext>
            </a:extLst>
          </p:cNvPr>
          <p:cNvSpPr/>
          <p:nvPr/>
        </p:nvSpPr>
        <p:spPr>
          <a:xfrm>
            <a:off x="4865177" y="4245672"/>
            <a:ext cx="4090637" cy="256449"/>
          </a:xfrm>
          <a:prstGeom prst="roundRect">
            <a:avLst/>
          </a:prstGeom>
          <a:solidFill>
            <a:srgbClr val="92D050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Total number of checkpoint Evaluations = 17*5 = 85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2C087D-08FB-26F0-99B9-E656FECBB708}"/>
              </a:ext>
            </a:extLst>
          </p:cNvPr>
          <p:cNvSpPr txBox="1"/>
          <p:nvPr/>
        </p:nvSpPr>
        <p:spPr>
          <a:xfrm>
            <a:off x="69272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4E47F9-794F-0C95-CDBA-8BA617DF8358}"/>
              </a:ext>
            </a:extLst>
          </p:cNvPr>
          <p:cNvSpPr txBox="1"/>
          <p:nvPr/>
        </p:nvSpPr>
        <p:spPr>
          <a:xfrm>
            <a:off x="5985164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India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0573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6B624-938A-B393-8907-E65EDBD7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56E3ED-0460-8FEB-520D-900A923970E9}"/>
              </a:ext>
            </a:extLst>
          </p:cNvPr>
          <p:cNvSpPr/>
          <p:nvPr/>
        </p:nvSpPr>
        <p:spPr>
          <a:xfrm>
            <a:off x="0" y="4758267"/>
            <a:ext cx="9144000" cy="38523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86D6B8-BCB0-6706-0539-31FAAF6D8E2A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D56C7A-8164-1B78-85DA-1314AC771EDE}"/>
              </a:ext>
            </a:extLst>
          </p:cNvPr>
          <p:cNvSpPr/>
          <p:nvPr/>
        </p:nvSpPr>
        <p:spPr>
          <a:xfrm>
            <a:off x="523665" y="2461344"/>
            <a:ext cx="875245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Sanity Test </a:t>
            </a:r>
            <a:r>
              <a:rPr lang="en-US" sz="12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(Loop-to-loop)</a:t>
            </a:r>
            <a:r>
              <a:rPr lang="en-US" sz="24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697609E-A5D2-19D0-9649-57D34FF75E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9552492"/>
                  </p:ext>
                </p:extLst>
              </p:nvPr>
            </p:nvGraphicFramePr>
            <p:xfrm>
              <a:off x="616028" y="2986122"/>
              <a:ext cx="5276772" cy="164592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160029">
                      <a:extLst>
                        <a:ext uri="{9D8B030D-6E8A-4147-A177-3AD203B41FA5}">
                          <a16:colId xmlns:a16="http://schemas.microsoft.com/office/drawing/2014/main" val="3832118261"/>
                        </a:ext>
                      </a:extLst>
                    </a:gridCol>
                    <a:gridCol w="851471">
                      <a:extLst>
                        <a:ext uri="{9D8B030D-6E8A-4147-A177-3AD203B41FA5}">
                          <a16:colId xmlns:a16="http://schemas.microsoft.com/office/drawing/2014/main" val="322604567"/>
                        </a:ext>
                      </a:extLst>
                    </a:gridCol>
                    <a:gridCol w="851471">
                      <a:extLst>
                        <a:ext uri="{9D8B030D-6E8A-4147-A177-3AD203B41FA5}">
                          <a16:colId xmlns:a16="http://schemas.microsoft.com/office/drawing/2014/main" val="2139879159"/>
                        </a:ext>
                      </a:extLst>
                    </a:gridCol>
                    <a:gridCol w="796789">
                      <a:extLst>
                        <a:ext uri="{9D8B030D-6E8A-4147-A177-3AD203B41FA5}">
                          <a16:colId xmlns:a16="http://schemas.microsoft.com/office/drawing/2014/main" val="1066030996"/>
                        </a:ext>
                      </a:extLst>
                    </a:gridCol>
                    <a:gridCol w="808506">
                      <a:extLst>
                        <a:ext uri="{9D8B030D-6E8A-4147-A177-3AD203B41FA5}">
                          <a16:colId xmlns:a16="http://schemas.microsoft.com/office/drawing/2014/main" val="2397385022"/>
                        </a:ext>
                      </a:extLst>
                    </a:gridCol>
                    <a:gridCol w="808506">
                      <a:extLst>
                        <a:ext uri="{9D8B030D-6E8A-4147-A177-3AD203B41FA5}">
                          <a16:colId xmlns:a16="http://schemas.microsoft.com/office/drawing/2014/main" val="3567217528"/>
                        </a:ext>
                      </a:extLst>
                    </a:gridCol>
                  </a:tblGrid>
                  <a:tr h="255846"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𝒏𝒐𝒕</m:t>
                                </m:r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𝒇𝒐𝒓</m:t>
                                </m:r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𝒘𝒉𝒊𝒍𝒆</m:t>
                                </m:r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𝒘𝒉𝒊𝒍𝒆</m:t>
                                </m:r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𝒏𝒐𝒕</m:t>
                                </m:r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4834280"/>
                      </a:ext>
                    </a:extLst>
                  </a:tr>
                  <a:tr h="2558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</m:oMath>
                            </m:oMathPara>
                          </a14:m>
                          <a:endParaRPr lang="en-US" sz="12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0894428"/>
                      </a:ext>
                    </a:extLst>
                  </a:tr>
                  <a:tr h="2558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𝒏𝒐𝒕</m:t>
                                </m:r>
                              </m:oMath>
                            </m:oMathPara>
                          </a14:m>
                          <a:endParaRPr lang="en-US" sz="12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868944"/>
                      </a:ext>
                    </a:extLst>
                  </a:tr>
                  <a:tr h="2558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𝒇𝒐𝒓</m:t>
                                </m:r>
                              </m:oMath>
                            </m:oMathPara>
                          </a14:m>
                          <a:endParaRPr lang="en-US" sz="12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67205303"/>
                      </a:ext>
                    </a:extLst>
                  </a:tr>
                  <a:tr h="2558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𝒘𝒉𝒊𝒍𝒆</m:t>
                                </m:r>
                              </m:oMath>
                            </m:oMathPara>
                          </a14:m>
                          <a:endParaRPr lang="en-US" sz="12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0097096"/>
                      </a:ext>
                    </a:extLst>
                  </a:tr>
                  <a:tr h="2558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𝒘𝒉𝒊𝒍𝒆</m:t>
                                </m:r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𝒏𝒐𝒕</m:t>
                                </m:r>
                              </m:oMath>
                            </m:oMathPara>
                          </a14:m>
                          <a:endParaRPr lang="en-US" sz="12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73327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697609E-A5D2-19D0-9649-57D34FF75E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9552492"/>
                  </p:ext>
                </p:extLst>
              </p:nvPr>
            </p:nvGraphicFramePr>
            <p:xfrm>
              <a:off x="616028" y="2986122"/>
              <a:ext cx="5276772" cy="164592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160029">
                      <a:extLst>
                        <a:ext uri="{9D8B030D-6E8A-4147-A177-3AD203B41FA5}">
                          <a16:colId xmlns:a16="http://schemas.microsoft.com/office/drawing/2014/main" val="3832118261"/>
                        </a:ext>
                      </a:extLst>
                    </a:gridCol>
                    <a:gridCol w="851471">
                      <a:extLst>
                        <a:ext uri="{9D8B030D-6E8A-4147-A177-3AD203B41FA5}">
                          <a16:colId xmlns:a16="http://schemas.microsoft.com/office/drawing/2014/main" val="322604567"/>
                        </a:ext>
                      </a:extLst>
                    </a:gridCol>
                    <a:gridCol w="851471">
                      <a:extLst>
                        <a:ext uri="{9D8B030D-6E8A-4147-A177-3AD203B41FA5}">
                          <a16:colId xmlns:a16="http://schemas.microsoft.com/office/drawing/2014/main" val="2139879159"/>
                        </a:ext>
                      </a:extLst>
                    </a:gridCol>
                    <a:gridCol w="796789">
                      <a:extLst>
                        <a:ext uri="{9D8B030D-6E8A-4147-A177-3AD203B41FA5}">
                          <a16:colId xmlns:a16="http://schemas.microsoft.com/office/drawing/2014/main" val="1066030996"/>
                        </a:ext>
                      </a:extLst>
                    </a:gridCol>
                    <a:gridCol w="808506">
                      <a:extLst>
                        <a:ext uri="{9D8B030D-6E8A-4147-A177-3AD203B41FA5}">
                          <a16:colId xmlns:a16="http://schemas.microsoft.com/office/drawing/2014/main" val="2397385022"/>
                        </a:ext>
                      </a:extLst>
                    </a:gridCol>
                    <a:gridCol w="808506">
                      <a:extLst>
                        <a:ext uri="{9D8B030D-6E8A-4147-A177-3AD203B41FA5}">
                          <a16:colId xmlns:a16="http://schemas.microsoft.com/office/drawing/2014/main" val="3567217528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36429" t="-2222" r="-385000" b="-5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36429" t="-2222" r="-285000" b="-5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59542" t="-2222" r="-204580" b="-5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56061" t="-2222" r="-103030" b="-5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51880" t="-2222" r="-2256" b="-5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483428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26" t="-102222" r="-357368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089442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26" t="-197826" r="-357368" b="-297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86894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26" t="-304444" r="-357368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6720530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26" t="-404444" r="-357368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009709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26" t="-504444" r="-357368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73327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0C630D9B-B5C5-2C29-D656-09FC9F9AFC7E}"/>
              </a:ext>
            </a:extLst>
          </p:cNvPr>
          <p:cNvSpPr/>
          <p:nvPr/>
        </p:nvSpPr>
        <p:spPr>
          <a:xfrm>
            <a:off x="523665" y="159332"/>
            <a:ext cx="875245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Sanity Test </a:t>
            </a:r>
            <a:r>
              <a:rPr lang="en-US" sz="12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(Loop – Binary-Logical-Data Conversion)</a:t>
            </a:r>
            <a:r>
              <a:rPr lang="en-US" sz="24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2428C578-0374-51E7-204C-421A09A24A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6651863"/>
                  </p:ext>
                </p:extLst>
              </p:nvPr>
            </p:nvGraphicFramePr>
            <p:xfrm>
              <a:off x="616028" y="715666"/>
              <a:ext cx="6770253" cy="164592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488351">
                      <a:extLst>
                        <a:ext uri="{9D8B030D-6E8A-4147-A177-3AD203B41FA5}">
                          <a16:colId xmlns:a16="http://schemas.microsoft.com/office/drawing/2014/main" val="3832118261"/>
                        </a:ext>
                      </a:extLst>
                    </a:gridCol>
                    <a:gridCol w="1092462">
                      <a:extLst>
                        <a:ext uri="{9D8B030D-6E8A-4147-A177-3AD203B41FA5}">
                          <a16:colId xmlns:a16="http://schemas.microsoft.com/office/drawing/2014/main" val="322604567"/>
                        </a:ext>
                      </a:extLst>
                    </a:gridCol>
                    <a:gridCol w="1092462">
                      <a:extLst>
                        <a:ext uri="{9D8B030D-6E8A-4147-A177-3AD203B41FA5}">
                          <a16:colId xmlns:a16="http://schemas.microsoft.com/office/drawing/2014/main" val="2139879159"/>
                        </a:ext>
                      </a:extLst>
                    </a:gridCol>
                    <a:gridCol w="1022302">
                      <a:extLst>
                        <a:ext uri="{9D8B030D-6E8A-4147-A177-3AD203B41FA5}">
                          <a16:colId xmlns:a16="http://schemas.microsoft.com/office/drawing/2014/main" val="1066030996"/>
                        </a:ext>
                      </a:extLst>
                    </a:gridCol>
                    <a:gridCol w="1037338">
                      <a:extLst>
                        <a:ext uri="{9D8B030D-6E8A-4147-A177-3AD203B41FA5}">
                          <a16:colId xmlns:a16="http://schemas.microsoft.com/office/drawing/2014/main" val="2397385022"/>
                        </a:ext>
                      </a:extLst>
                    </a:gridCol>
                    <a:gridCol w="1037338">
                      <a:extLst>
                        <a:ext uri="{9D8B030D-6E8A-4147-A177-3AD203B41FA5}">
                          <a16:colId xmlns:a16="http://schemas.microsoft.com/office/drawing/2014/main" val="3567217528"/>
                        </a:ext>
                      </a:extLst>
                    </a:gridCol>
                  </a:tblGrid>
                  <a:tr h="382512"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𝒏𝒐𝒕</m:t>
                                </m:r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𝒇𝒐𝒓</m:t>
                                </m:r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𝒘𝒉𝒊𝒍𝒆</m:t>
                                </m:r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𝒘𝒉𝒊𝒍𝒆</m:t>
                                </m:r>
                              </m:oMath>
                            </m:oMathPara>
                          </a14:m>
                          <a:endParaRPr lang="en-US" sz="1200" b="1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𝒏𝒐𝒕</m:t>
                                </m:r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4834280"/>
                      </a:ext>
                    </a:extLst>
                  </a:tr>
                  <a:tr h="3470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𝑩𝒊𝒏𝒂𝒓𝒚</m:t>
                                </m:r>
                              </m:oMath>
                            </m:oMathPara>
                          </a14:m>
                          <a:endParaRPr lang="en-US" sz="12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(6 operations)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0894428"/>
                      </a:ext>
                    </a:extLst>
                  </a:tr>
                  <a:tr h="3470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𝑳𝒐𝒈𝒊𝒄𝒂𝒍</m:t>
                                </m:r>
                              </m:oMath>
                            </m:oMathPara>
                          </a14:m>
                          <a:endParaRPr lang="en-US" sz="12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(8 operations)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868944"/>
                      </a:ext>
                    </a:extLst>
                  </a:tr>
                  <a:tr h="3470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𝑫𝒂𝒕𝒂</m:t>
                                </m:r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𝑪𝒐𝒏𝒗𝒆𝒓𝒔𝒊𝒐𝒏</m:t>
                                </m:r>
                              </m:oMath>
                            </m:oMathPara>
                          </a14:m>
                          <a:endParaRPr lang="en-US" sz="12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sz="800" b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(6 operations)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672053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2428C578-0374-51E7-204C-421A09A24A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6651863"/>
                  </p:ext>
                </p:extLst>
              </p:nvPr>
            </p:nvGraphicFramePr>
            <p:xfrm>
              <a:off x="616028" y="715666"/>
              <a:ext cx="6770253" cy="164592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1488351">
                      <a:extLst>
                        <a:ext uri="{9D8B030D-6E8A-4147-A177-3AD203B41FA5}">
                          <a16:colId xmlns:a16="http://schemas.microsoft.com/office/drawing/2014/main" val="3832118261"/>
                        </a:ext>
                      </a:extLst>
                    </a:gridCol>
                    <a:gridCol w="1092462">
                      <a:extLst>
                        <a:ext uri="{9D8B030D-6E8A-4147-A177-3AD203B41FA5}">
                          <a16:colId xmlns:a16="http://schemas.microsoft.com/office/drawing/2014/main" val="322604567"/>
                        </a:ext>
                      </a:extLst>
                    </a:gridCol>
                    <a:gridCol w="1092462">
                      <a:extLst>
                        <a:ext uri="{9D8B030D-6E8A-4147-A177-3AD203B41FA5}">
                          <a16:colId xmlns:a16="http://schemas.microsoft.com/office/drawing/2014/main" val="2139879159"/>
                        </a:ext>
                      </a:extLst>
                    </a:gridCol>
                    <a:gridCol w="1022302">
                      <a:extLst>
                        <a:ext uri="{9D8B030D-6E8A-4147-A177-3AD203B41FA5}">
                          <a16:colId xmlns:a16="http://schemas.microsoft.com/office/drawing/2014/main" val="1066030996"/>
                        </a:ext>
                      </a:extLst>
                    </a:gridCol>
                    <a:gridCol w="1037338">
                      <a:extLst>
                        <a:ext uri="{9D8B030D-6E8A-4147-A177-3AD203B41FA5}">
                          <a16:colId xmlns:a16="http://schemas.microsoft.com/office/drawing/2014/main" val="2397385022"/>
                        </a:ext>
                      </a:extLst>
                    </a:gridCol>
                    <a:gridCol w="1037338">
                      <a:extLst>
                        <a:ext uri="{9D8B030D-6E8A-4147-A177-3AD203B41FA5}">
                          <a16:colId xmlns:a16="http://schemas.microsoft.com/office/drawing/2014/main" val="356721752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36111" t="-1333" r="-383333" b="-26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37430" t="-1333" r="-285475" b="-26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59524" t="-1333" r="-204167" b="-26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54118" t="-1333" r="-101765" b="-26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54118" t="-1333" r="-1765" b="-26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483428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10" t="-115152" r="-356557" b="-2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089442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10" t="-218462" r="-356557" b="-1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86894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10" t="-318462" r="-356557" b="-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672053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6F4343A-9723-0695-8270-F892D0A2C0E9}"/>
              </a:ext>
            </a:extLst>
          </p:cNvPr>
          <p:cNvSpPr txBox="1"/>
          <p:nvPr/>
        </p:nvSpPr>
        <p:spPr>
          <a:xfrm>
            <a:off x="69272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635CED-1CDC-88E0-D918-5A3DFC0D59A3}"/>
              </a:ext>
            </a:extLst>
          </p:cNvPr>
          <p:cNvSpPr txBox="1"/>
          <p:nvPr/>
        </p:nvSpPr>
        <p:spPr>
          <a:xfrm>
            <a:off x="5985164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India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8678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12A7-4533-9EB9-FA5C-4AABAF78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D6757F-9124-F80D-01E9-F776436FF868}"/>
              </a:ext>
            </a:extLst>
          </p:cNvPr>
          <p:cNvSpPr/>
          <p:nvPr/>
        </p:nvSpPr>
        <p:spPr>
          <a:xfrm>
            <a:off x="0" y="4758267"/>
            <a:ext cx="9144000" cy="38523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0F6111-3D84-9992-9B3E-FA536DF53AAB}"/>
              </a:ext>
            </a:extLst>
          </p:cNvPr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4D61D7-0DE7-A66D-0FC4-A10F90C6C2E9}"/>
              </a:ext>
            </a:extLst>
          </p:cNvPr>
          <p:cNvSpPr/>
          <p:nvPr/>
        </p:nvSpPr>
        <p:spPr>
          <a:xfrm>
            <a:off x="195773" y="153009"/>
            <a:ext cx="875245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cap="none" spc="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Horizon Test: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61F1AD-09DA-9DFD-316E-BBBA97C06E9F}"/>
                  </a:ext>
                </a:extLst>
              </p:cNvPr>
              <p:cNvSpPr txBox="1"/>
              <p:nvPr/>
            </p:nvSpPr>
            <p:spPr>
              <a:xfrm>
                <a:off x="254000" y="780473"/>
                <a:ext cx="8626764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𝐵𝑎𝑠𝑒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𝑃𝑟𝑖𝑚𝑖𝑡𝑖𝑣𝑒𝑠</m:t>
                    </m:r>
                    <m:r>
                      <a:rPr kumimoji="0" lang="en-US" sz="1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sz="12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2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kumimoji="0" lang="en-US" sz="12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kumimoji="0" lang="en-US" sz="12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kumimoji="0" lang="en-US" sz="12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sz="12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kumimoji="0" lang="en-US" sz="12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0" lang="en-US" sz="12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𝑓𝑜𝑟</m:t>
                        </m:r>
                        <m:r>
                          <a:rPr kumimoji="0" lang="en-US" sz="12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0" lang="en-US" sz="12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𝑤ℎ𝑖𝑙𝑒</m:t>
                        </m:r>
                        <m:r>
                          <a:rPr kumimoji="0" lang="en-US" sz="12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0" lang="en-US" sz="12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𝑤ℎ𝑖𝑙𝑒</m:t>
                        </m:r>
                        <m:r>
                          <a:rPr kumimoji="0" lang="en-US" sz="12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sz="12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𝑛𝑜𝑡</m:t>
                        </m:r>
                      </m:e>
                    </m:d>
                    <m:r>
                      <a:rPr kumimoji="0" lang="en-US" sz="12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sz="1200" kern="0" dirty="0">
                    <a:solidFill>
                      <a:srgbClr val="000000"/>
                    </a:solidFill>
                  </a:rPr>
                  <a:t>Even though IDE is capable to handle the loops over horizon, to evaluate the performance, the count 100 is taken. </a:t>
                </a: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sz="1200" kern="0" dirty="0">
                    <a:solidFill>
                      <a:srgbClr val="000000"/>
                    </a:solidFill>
                  </a:rPr>
                  <a:t>The test is conducted by an incremental approach [5,10,15,20,……,95,100] </a:t>
                </a: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indent="-171450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sz="1200" kern="0" dirty="0">
                    <a:solidFill>
                      <a:srgbClr val="000000"/>
                    </a:solidFill>
                  </a:rPr>
                  <a:t>Time taken for the computation and order notation are observed as a main parameter.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61F1AD-09DA-9DFD-316E-BBBA97C06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780473"/>
                <a:ext cx="8626764" cy="1292662"/>
              </a:xfrm>
              <a:prstGeom prst="rect">
                <a:avLst/>
              </a:prstGeom>
              <a:blipFill>
                <a:blip r:embed="rId4"/>
                <a:stretch>
                  <a:fillRect l="-1060" t="-2358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DA7D37DB-ED8F-8B13-CACD-447317E334CE}"/>
              </a:ext>
            </a:extLst>
          </p:cNvPr>
          <p:cNvSpPr/>
          <p:nvPr/>
        </p:nvSpPr>
        <p:spPr>
          <a:xfrm>
            <a:off x="6690680" y="4252921"/>
            <a:ext cx="224657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Continuing to ace it!</a:t>
            </a:r>
            <a:endParaRPr lang="en-US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792ED3-B362-C36C-81B9-D188530DFFE8}"/>
              </a:ext>
            </a:extLst>
          </p:cNvPr>
          <p:cNvSpPr txBox="1"/>
          <p:nvPr/>
        </p:nvSpPr>
        <p:spPr>
          <a:xfrm>
            <a:off x="69272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Unified Programming Interface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8C51C0-4621-87B7-380D-0A5F70374ED8}"/>
              </a:ext>
            </a:extLst>
          </p:cNvPr>
          <p:cNvSpPr txBox="1"/>
          <p:nvPr/>
        </p:nvSpPr>
        <p:spPr>
          <a:xfrm>
            <a:off x="5985164" y="4889327"/>
            <a:ext cx="29925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PASS Science Works, India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19405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heme/theme1.xml><?xml version="1.0" encoding="utf-8"?>
<a:theme xmlns:a="http://schemas.openxmlformats.org/drawingml/2006/main" name="ZF AG">
  <a:themeElements>
    <a:clrScheme name="Benutzerdefiniert 3">
      <a:dk1>
        <a:srgbClr val="000000"/>
      </a:dk1>
      <a:lt1>
        <a:srgbClr val="FFFFFF"/>
      </a:lt1>
      <a:dk2>
        <a:srgbClr val="00ABE7"/>
      </a:dk2>
      <a:lt2>
        <a:srgbClr val="ACBBC5"/>
      </a:lt2>
      <a:accent1>
        <a:srgbClr val="768E9F"/>
      </a:accent1>
      <a:accent2>
        <a:srgbClr val="93D5F6"/>
      </a:accent2>
      <a:accent3>
        <a:srgbClr val="CEEBFC"/>
      </a:accent3>
      <a:accent4>
        <a:srgbClr val="475968"/>
      </a:accent4>
      <a:accent5>
        <a:srgbClr val="0057B7"/>
      </a:accent5>
      <a:accent6>
        <a:srgbClr val="2EBEEF"/>
      </a:accent6>
      <a:hlink>
        <a:srgbClr val="0057B7"/>
      </a:hlink>
      <a:folHlink>
        <a:srgbClr val="768E9F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 cap="flat" cmpd="sng" algn="ctr">
          <a:noFill/>
          <a:prstDash val="solid"/>
        </a:ln>
        <a:effectLst/>
      </a:spPr>
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Tahoma"/>
            <a:ea typeface="+mn-ea"/>
            <a:cs typeface="Tahoma" pitchFamily="34" charset="0"/>
          </a:defRPr>
        </a:defPPr>
      </a:lstStyle>
    </a:spDef>
    <a:lnDef>
      <a:spPr>
        <a:noFill/>
        <a:ln w="6350" cap="rnd" cmpd="sng" algn="ctr">
          <a:solidFill>
            <a:schemeClr val="bg2"/>
          </a:solidFill>
          <a:prstDash val="solid"/>
          <a:round/>
        </a:ln>
        <a:effectLst/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marL="0" marR="0" indent="0" defTabSz="91440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ZF Cyan 100%">
      <a:srgbClr val="00ABE7"/>
    </a:custClr>
    <a:custClr name="ZF Cyan 75%">
      <a:srgbClr val="2EBEEF"/>
    </a:custClr>
    <a:custClr name="ZF Cyan 50%">
      <a:srgbClr val="93D5F6"/>
    </a:custClr>
    <a:custClr name="ZF Cyan 25%">
      <a:srgbClr val="CEEBFC"/>
    </a:custClr>
    <a:custClr>
      <a:srgbClr val="FFFFFF"/>
    </a:custClr>
    <a:custClr name="ZF Blue / 1. Step color gradient">
      <a:srgbClr val="0057B7"/>
    </a:custClr>
    <a:custClr name="ZF Dark Blue / 2. Step color gradient">
      <a:srgbClr val="000828"/>
    </a:custClr>
    <a:custClr name="ZF Middle Blue">
      <a:srgbClr val="00265F"/>
    </a:custClr>
    <a:custClr>
      <a:srgbClr val="FFFFFF"/>
    </a:custClr>
    <a:custClr name="ZF Red">
      <a:srgbClr val="E52330"/>
    </a:custClr>
    <a:custClr name="ZF Black 100%">
      <a:srgbClr val="000000"/>
    </a:custClr>
    <a:custClr name="ZF Gray 800">
      <a:srgbClr val="475968"/>
    </a:custClr>
    <a:custClr name="ZF Gray 500">
      <a:srgbClr val="768E9F"/>
    </a:custClr>
    <a:custClr name="ZF Gray 300">
      <a:srgbClr val="ACBBC5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ZF Aqua 100% (Chart color)">
      <a:srgbClr val="00A7AB"/>
    </a:custClr>
    <a:custClr name="ZF Aqua 50% (Chart color)">
      <a:srgbClr val="A2D3D6"/>
    </a:custClr>
    <a:custClr name="ZF Purple 100% (Chart color)">
      <a:srgbClr val="524E9C"/>
    </a:custClr>
    <a:custClr name="ZF Purple 50% (Chart color)">
      <a:srgbClr val="A6A1D0"/>
    </a:custClr>
    <a:custClr name="ZF Orange 100% (Chart color)">
      <a:srgbClr val="F28A3D"/>
    </a:custClr>
    <a:custClr name="ZF Orange 50% (Chart color)">
      <a:srgbClr val="FAC89F"/>
    </a:custClr>
  </a:custClrLst>
  <a:extLst>
    <a:ext uri="{05A4C25C-085E-4340-85A3-A5531E510DB2}">
      <thm15:themeFamily xmlns:thm15="http://schemas.microsoft.com/office/thememl/2012/main" name="master_zf.potx" id="{0C20BA16-1FCA-489C-8054-EED9591F7A61}" vid="{2BC6EB19-77C4-4617-9BC8-50CED133014D}"/>
    </a:ext>
  </a:extLst>
</a:theme>
</file>

<file path=ppt/theme/theme2.xml><?xml version="1.0" encoding="utf-8"?>
<a:theme xmlns:a="http://schemas.openxmlformats.org/drawingml/2006/main" name="Larissa">
  <a:themeElements>
    <a:clrScheme name="© ZF Friedrichshafen AG">
      <a:dk1>
        <a:srgbClr val="000000"/>
      </a:dk1>
      <a:lt1>
        <a:srgbClr val="FFFFFF"/>
      </a:lt1>
      <a:dk2>
        <a:srgbClr val="00ABE7"/>
      </a:dk2>
      <a:lt2>
        <a:srgbClr val="BFBFBF"/>
      </a:lt2>
      <a:accent1>
        <a:srgbClr val="7FA5BC"/>
      </a:accent1>
      <a:accent2>
        <a:srgbClr val="7FD5F3"/>
      </a:accent2>
      <a:accent3>
        <a:srgbClr val="BFEAF9"/>
      </a:accent3>
      <a:accent4>
        <a:srgbClr val="004D7A"/>
      </a:accent4>
      <a:accent5>
        <a:srgbClr val="1179BF"/>
      </a:accent5>
      <a:accent6>
        <a:srgbClr val="81BCDF"/>
      </a:accent6>
      <a:hlink>
        <a:srgbClr val="00ABE7"/>
      </a:hlink>
      <a:folHlink>
        <a:srgbClr val="7FD5F3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© ZF Friedrichshafen AG">
      <a:dk1>
        <a:srgbClr val="000000"/>
      </a:dk1>
      <a:lt1>
        <a:srgbClr val="FFFFFF"/>
      </a:lt1>
      <a:dk2>
        <a:srgbClr val="00ABE7"/>
      </a:dk2>
      <a:lt2>
        <a:srgbClr val="BFBFBF"/>
      </a:lt2>
      <a:accent1>
        <a:srgbClr val="7FA5BC"/>
      </a:accent1>
      <a:accent2>
        <a:srgbClr val="7FD5F3"/>
      </a:accent2>
      <a:accent3>
        <a:srgbClr val="BFEAF9"/>
      </a:accent3>
      <a:accent4>
        <a:srgbClr val="004D7A"/>
      </a:accent4>
      <a:accent5>
        <a:srgbClr val="1179BF"/>
      </a:accent5>
      <a:accent6>
        <a:srgbClr val="81BCDF"/>
      </a:accent6>
      <a:hlink>
        <a:srgbClr val="00ABE7"/>
      </a:hlink>
      <a:folHlink>
        <a:srgbClr val="7FD5F3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0460AE39A82AD4795A3565F3DAE5EA8" ma:contentTypeVersion="16" ma:contentTypeDescription="Ein neues Dokument erstellen." ma:contentTypeScope="" ma:versionID="ec82a9993c9b8a2201503eb30937bf4a">
  <xsd:schema xmlns:xsd="http://www.w3.org/2001/XMLSchema" xmlns:xs="http://www.w3.org/2001/XMLSchema" xmlns:p="http://schemas.microsoft.com/office/2006/metadata/properties" xmlns:ns2="e05445a8-2551-4a63-879e-01155c2c761e" xmlns:ns3="01e95462-78a7-41d4-9a93-e8d8dde53743" targetNamespace="http://schemas.microsoft.com/office/2006/metadata/properties" ma:root="true" ma:fieldsID="0382105114aa7af2a0cdb49a7fd70252" ns2:_="" ns3:_="">
    <xsd:import namespace="e05445a8-2551-4a63-879e-01155c2c761e"/>
    <xsd:import namespace="01e95462-78a7-41d4-9a93-e8d8dde537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445a8-2551-4a63-879e-01155c2c76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61535f45-074a-4eaf-b5ce-0ad645dc02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95462-78a7-41d4-9a93-e8d8dde5374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d77f661-fbf6-419b-8abd-9541f25a54a0}" ma:internalName="TaxCatchAll" ma:showField="CatchAllData" ma:web="01e95462-78a7-41d4-9a93-e8d8dde537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B5088A-3ACC-49D2-A58D-F09F6B8954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5445a8-2551-4a63-879e-01155c2c761e"/>
    <ds:schemaRef ds:uri="01e95462-78a7-41d4-9a93-e8d8dde537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DA0BA8E-434D-48CF-8C42-C96ADE6F01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2351</Words>
  <Application>Microsoft Office PowerPoint</Application>
  <PresentationFormat>On-screen Show (16:9)</PresentationFormat>
  <Paragraphs>655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Cambria Math</vt:lpstr>
      <vt:lpstr>Tahoma</vt:lpstr>
      <vt:lpstr>ZF AG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ZF Commercial Vehicle Control Systems India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Sivaraj Sivaraman CNN TOD2</dc:creator>
  <cp:lastModifiedBy>Sivaraj Sivaraman CNN TOD2</cp:lastModifiedBy>
  <cp:revision>52</cp:revision>
  <cp:lastPrinted>2022-11-09T16:26:39Z</cp:lastPrinted>
  <dcterms:created xsi:type="dcterms:W3CDTF">2026-08-11T10:12:51Z</dcterms:created>
  <dcterms:modified xsi:type="dcterms:W3CDTF">2026-09-30T14:54:28Z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w_Agenda_1">
    <vt:lpwstr>Lorem ipsum dolor sit amet</vt:lpwstr>
  </property>
  <property fmtid="{D5CDD505-2E9C-101B-9397-08002B2CF9AE}" pid="3" name="tw_Agenda_2">
    <vt:lpwstr/>
  </property>
  <property fmtid="{D5CDD505-2E9C-101B-9397-08002B2CF9AE}" pid="4" name="tw_Agenda_3">
    <vt:lpwstr/>
  </property>
  <property fmtid="{D5CDD505-2E9C-101B-9397-08002B2CF9AE}" pid="5" name="tw_Agenda_4">
    <vt:lpwstr/>
  </property>
  <property fmtid="{D5CDD505-2E9C-101B-9397-08002B2CF9AE}" pid="6" name="tw_Agenda_5">
    <vt:lpwstr/>
  </property>
  <property fmtid="{D5CDD505-2E9C-101B-9397-08002B2CF9AE}" pid="7" name="tw_Agenda_6">
    <vt:lpwstr/>
  </property>
  <property fmtid="{D5CDD505-2E9C-101B-9397-08002B2CF9AE}" pid="8" name="tw_Agenda_7">
    <vt:lpwstr/>
  </property>
  <property fmtid="{D5CDD505-2E9C-101B-9397-08002B2CF9AE}" pid="9" name="tw_Agenda_8">
    <vt:lpwstr/>
  </property>
  <property fmtid="{D5CDD505-2E9C-101B-9397-08002B2CF9AE}" pid="10" name="tw_Agenda_9">
    <vt:lpwstr/>
  </property>
  <property fmtid="{D5CDD505-2E9C-101B-9397-08002B2CF9AE}" pid="11" name="tw_Agenda_10">
    <vt:lpwstr/>
  </property>
  <property fmtid="{D5CDD505-2E9C-101B-9397-08002B2CF9AE}" pid="12" name="tw_Agenda_11">
    <vt:lpwstr/>
  </property>
  <property fmtid="{D5CDD505-2E9C-101B-9397-08002B2CF9AE}" pid="13" name="tw_Agenda_12">
    <vt:lpwstr/>
  </property>
  <property fmtid="{D5CDD505-2E9C-101B-9397-08002B2CF9AE}" pid="14" name="MSIP_Label_7294a1c8-9899-41e7-8f6e-8b1b3c79592a_Enabled">
    <vt:lpwstr>true</vt:lpwstr>
  </property>
  <property fmtid="{D5CDD505-2E9C-101B-9397-08002B2CF9AE}" pid="15" name="MSIP_Label_7294a1c8-9899-41e7-8f6e-8b1b3c79592a_SetDate">
    <vt:lpwstr>2026-08-11T11:06:36Z</vt:lpwstr>
  </property>
  <property fmtid="{D5CDD505-2E9C-101B-9397-08002B2CF9AE}" pid="16" name="MSIP_Label_7294a1c8-9899-41e7-8f6e-8b1b3c79592a_Method">
    <vt:lpwstr>Privileged</vt:lpwstr>
  </property>
  <property fmtid="{D5CDD505-2E9C-101B-9397-08002B2CF9AE}" pid="17" name="MSIP_Label_7294a1c8-9899-41e7-8f6e-8b1b3c79592a_Name">
    <vt:lpwstr>Internal sub2 (no marking)</vt:lpwstr>
  </property>
  <property fmtid="{D5CDD505-2E9C-101B-9397-08002B2CF9AE}" pid="18" name="MSIP_Label_7294a1c8-9899-41e7-8f6e-8b1b3c79592a_SiteId">
    <vt:lpwstr>eb70b763-b6d7-4486-8555-8831709a784e</vt:lpwstr>
  </property>
  <property fmtid="{D5CDD505-2E9C-101B-9397-08002B2CF9AE}" pid="19" name="MSIP_Label_7294a1c8-9899-41e7-8f6e-8b1b3c79592a_ActionId">
    <vt:lpwstr>1e59bbca-79ef-477d-be5b-a61fe6a3e2e1</vt:lpwstr>
  </property>
  <property fmtid="{D5CDD505-2E9C-101B-9397-08002B2CF9AE}" pid="20" name="MSIP_Label_7294a1c8-9899-41e7-8f6e-8b1b3c79592a_ContentBits">
    <vt:lpwstr>0</vt:lpwstr>
  </property>
  <property fmtid="{D5CDD505-2E9C-101B-9397-08002B2CF9AE}" pid="21" name="MSIP_Label_7294a1c8-9899-41e7-8f6e-8b1b3c79592a_Tag">
    <vt:lpwstr>10, 0, 1, 1</vt:lpwstr>
  </property>
</Properties>
</file>